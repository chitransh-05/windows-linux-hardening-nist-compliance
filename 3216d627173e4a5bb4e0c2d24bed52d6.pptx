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 id="2147483763" r:id="rId2"/>
    <p:sldMasterId id="2147483768" r:id="rId3"/>
  </p:sldMasterIdLst>
  <p:notesMasterIdLst>
    <p:notesMasterId r:id="rId32"/>
  </p:notesMasterIdLst>
  <p:sldIdLst>
    <p:sldId id="256" r:id="rId4"/>
    <p:sldId id="257" r:id="rId5"/>
    <p:sldId id="258" r:id="rId6"/>
    <p:sldId id="259" r:id="rId7"/>
    <p:sldId id="260" r:id="rId8"/>
    <p:sldId id="303" r:id="rId9"/>
    <p:sldId id="304" r:id="rId10"/>
    <p:sldId id="265" r:id="rId11"/>
    <p:sldId id="309" r:id="rId12"/>
    <p:sldId id="310" r:id="rId13"/>
    <p:sldId id="307" r:id="rId14"/>
    <p:sldId id="311" r:id="rId15"/>
    <p:sldId id="269" r:id="rId16"/>
    <p:sldId id="312" r:id="rId17"/>
    <p:sldId id="314" r:id="rId18"/>
    <p:sldId id="315" r:id="rId19"/>
    <p:sldId id="316" r:id="rId20"/>
    <p:sldId id="273" r:id="rId21"/>
    <p:sldId id="317" r:id="rId22"/>
    <p:sldId id="294" r:id="rId23"/>
    <p:sldId id="276" r:id="rId24"/>
    <p:sldId id="318" r:id="rId25"/>
    <p:sldId id="319" r:id="rId26"/>
    <p:sldId id="270" r:id="rId27"/>
    <p:sldId id="280" r:id="rId28"/>
    <p:sldId id="320" r:id="rId29"/>
    <p:sldId id="321" r:id="rId30"/>
    <p:sldId id="322" r:id="rId31"/>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3B59"/>
    <a:srgbClr val="66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2453"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4E432-B1C3-44C4-9D68-3FC8EEDA25F5}" type="datetimeFigureOut">
              <a:rPr lang="en-IN" smtClean="0"/>
              <a:t>20-01-2025</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AD6D5-7C25-4B9A-9887-13E7A4610C1B}" type="slidenum">
              <a:rPr lang="en-IN" smtClean="0"/>
              <a:t>‹#›</a:t>
            </a:fld>
            <a:endParaRPr lang="en-IN"/>
          </a:p>
        </p:txBody>
      </p:sp>
    </p:spTree>
    <p:extLst>
      <p:ext uri="{BB962C8B-B14F-4D97-AF65-F5344CB8AC3E}">
        <p14:creationId xmlns:p14="http://schemas.microsoft.com/office/powerpoint/2010/main" val="792514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2cd1c77ac7f_0_63: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 name="Google Shape;40;g2cd1c77ac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be88b6f23_0_7: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abe88b6f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f456f9df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f456f9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f4f456f9df_0_84: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f4f456f9d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f4f456f9df_0_15: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f4f456f9d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be88b6f23_0_101: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abe88b6f2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abe88b6f23_0_109: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abe88b6f2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ac2f510ffe_0_0: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ac2f510f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ac2f510ffe_0_36:notes"/>
          <p:cNvSpPr>
            <a:spLocks noGrp="1" noRot="1" noChangeAspect="1"/>
          </p:cNvSpPr>
          <p:nvPr>
            <p:ph type="sldImg" idx="2"/>
          </p:nvPr>
        </p:nvSpPr>
        <p:spPr>
          <a:xfrm>
            <a:off x="2143125" y="685800"/>
            <a:ext cx="25733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ac2f510ff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05739" y="2888488"/>
            <a:ext cx="6452756" cy="2319129"/>
          </a:xfrm>
        </p:spPr>
        <p:txBody>
          <a:bodyPr tIns="45720" bIns="45720" anchor="ctr">
            <a:normAutofit/>
          </a:bodyPr>
          <a:lstStyle>
            <a:lvl1pPr algn="ctr">
              <a:lnSpc>
                <a:spcPct val="80000"/>
              </a:lnSpc>
              <a:defRPr sz="4500" spc="0" baseline="0"/>
            </a:lvl1pPr>
          </a:lstStyle>
          <a:p>
            <a:r>
              <a:rPr lang="en-US"/>
              <a:t>Click to edit Master title style</a:t>
            </a:r>
            <a:endParaRPr lang="en-US" dirty="0"/>
          </a:p>
        </p:txBody>
      </p:sp>
      <p:sp>
        <p:nvSpPr>
          <p:cNvPr id="3" name="Subtitle 2"/>
          <p:cNvSpPr>
            <a:spLocks noGrp="1"/>
          </p:cNvSpPr>
          <p:nvPr>
            <p:ph type="subTitle" idx="1"/>
          </p:nvPr>
        </p:nvSpPr>
        <p:spPr>
          <a:xfrm>
            <a:off x="857250" y="5293754"/>
            <a:ext cx="5143500" cy="1745673"/>
          </a:xfrm>
        </p:spPr>
        <p:txBody>
          <a:bodyPr>
            <a:normAutofit/>
          </a:bodyPr>
          <a:lstStyle>
            <a:lvl1pPr marL="0" indent="0" algn="ctr">
              <a:buNone/>
              <a:defRPr sz="1500"/>
            </a:lvl1pPr>
            <a:lvl2pPr marL="342900" indent="0" algn="ctr">
              <a:buNone/>
              <a:defRPr sz="1500"/>
            </a:lvl2pPr>
            <a:lvl3pPr marL="685800" indent="0" algn="ctr">
              <a:buNone/>
              <a:defRPr sz="15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65942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192135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3849" y="2745349"/>
            <a:ext cx="6860063" cy="24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68670" y="2945172"/>
            <a:ext cx="5915025" cy="2235200"/>
          </a:xfrm>
        </p:spPr>
        <p:txBody>
          <a:bodyPr anchor="ctr">
            <a:noAutofit/>
          </a:bodyPr>
          <a:lstStyle>
            <a:lvl1pPr algn="ctr">
              <a:lnSpc>
                <a:spcPct val="80000"/>
              </a:lnSpc>
              <a:defRPr sz="4500" b="0" spc="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670" y="5312534"/>
            <a:ext cx="5915025" cy="1566185"/>
          </a:xfrm>
        </p:spPr>
        <p:txBody>
          <a:bodyPr anchor="t">
            <a:normAutofit/>
          </a:bodyPr>
          <a:lstStyle>
            <a:lvl1pPr marL="0" indent="0" algn="ctr">
              <a:buNone/>
              <a:defRPr sz="150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001F6B2-25AA-4F49-8B29-A540EB52E9E6}" type="datetimeFigureOut">
              <a:rPr lang="en-IN" smtClean="0"/>
              <a:t>20-01-2025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9373939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48"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00450" y="2682240"/>
            <a:ext cx="2743200" cy="56083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01F6B2-25AA-4F49-8B29-A540EB52E9E6}"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236614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14350"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0" y="3542088"/>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00321" y="2551293"/>
            <a:ext cx="2743200" cy="990792"/>
          </a:xfrm>
        </p:spPr>
        <p:txBody>
          <a:bodyPr anchor="ctr">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600321" y="3542085"/>
            <a:ext cx="2743200" cy="47548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01F6B2-25AA-4F49-8B29-A540EB52E9E6}" type="datetimeFigureOut">
              <a:rPr lang="en-IN" smtClean="0"/>
              <a:t>20-01-2025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3105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1F6B2-25AA-4F49-8B29-A540EB52E9E6}" type="datetimeFigureOut">
              <a:rPr lang="en-IN" smtClean="0"/>
              <a:t>20-01-2025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78012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1F6B2-25AA-4F49-8B29-A540EB52E9E6}" type="datetimeFigureOut">
              <a:rPr lang="en-IN" smtClean="0"/>
              <a:t>20-01-2025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327213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14350" y="2865120"/>
            <a:ext cx="3429000" cy="512064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419426" y="2863317"/>
            <a:ext cx="1920240" cy="4576425"/>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2471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514350" y="2948659"/>
            <a:ext cx="3566160" cy="5120640"/>
          </a:xfrm>
          <a:solidFill>
            <a:schemeClr val="tx2">
              <a:lumMod val="60000"/>
              <a:lumOff val="40000"/>
            </a:schemeClr>
          </a:solidFill>
        </p:spPr>
        <p:txBody>
          <a:bodyPr tIns="365760" anchor="t"/>
          <a:lstStyle>
            <a:lvl1pPr marL="0" indent="0" algn="ctr">
              <a:buNone/>
              <a:defRPr sz="2400">
                <a:solidFill>
                  <a:schemeClr val="tx1">
                    <a:lumMod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414013" y="2867495"/>
            <a:ext cx="1920240" cy="4572000"/>
          </a:xfrm>
        </p:spPr>
        <p:txBody>
          <a:bodyPr>
            <a:normAutofit/>
          </a:bodyPr>
          <a:lstStyle>
            <a:lvl1pPr marL="0" indent="0">
              <a:lnSpc>
                <a:spcPct val="95000"/>
              </a:lnSpc>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001F6B2-25AA-4F49-8B29-A540EB52E9E6}" type="datetimeFigureOut">
              <a:rPr lang="en-IN" smtClean="0"/>
              <a:t>20-01-2025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403214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01F6B2-25AA-4F49-8B29-A540EB52E9E6}" type="datetimeFigureOut">
              <a:rPr lang="en-IN" smtClean="0"/>
              <a:t>20-01-2025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1744737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073363" y="0"/>
            <a:ext cx="1543050" cy="914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5152851" y="812800"/>
            <a:ext cx="1351339" cy="7518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812800"/>
            <a:ext cx="4484976" cy="751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71488" y="8563808"/>
            <a:ext cx="1543048" cy="486833"/>
          </a:xfrm>
        </p:spPr>
        <p:txBody>
          <a:bodyPr/>
          <a:lstStyle/>
          <a:p>
            <a:fld id="{7001F6B2-25AA-4F49-8B29-A540EB52E9E6}" type="datetimeFigureOut">
              <a:rPr lang="en-IN" smtClean="0"/>
              <a:t>20-01-2025</a:t>
            </a:fld>
            <a:endParaRPr lang="en-IN"/>
          </a:p>
        </p:txBody>
      </p:sp>
      <p:sp>
        <p:nvSpPr>
          <p:cNvPr id="5" name="Footer Placeholder 4"/>
          <p:cNvSpPr>
            <a:spLocks noGrp="1"/>
          </p:cNvSpPr>
          <p:nvPr>
            <p:ph type="ftr" sz="quarter" idx="11"/>
          </p:nvPr>
        </p:nvSpPr>
        <p:spPr>
          <a:xfrm>
            <a:off x="2124077" y="8563808"/>
            <a:ext cx="2407314" cy="486833"/>
          </a:xfrm>
        </p:spPr>
        <p:txBody>
          <a:bodyPr/>
          <a:lstStyle/>
          <a:p>
            <a:endParaRPr lang="en-IN"/>
          </a:p>
        </p:txBody>
      </p:sp>
      <p:sp>
        <p:nvSpPr>
          <p:cNvPr id="6" name="Slide Number Placeholder 5"/>
          <p:cNvSpPr>
            <a:spLocks noGrp="1"/>
          </p:cNvSpPr>
          <p:nvPr>
            <p:ph type="sldNum" sz="quarter" idx="12"/>
          </p:nvPr>
        </p:nvSpPr>
        <p:spPr>
          <a:xfrm>
            <a:off x="4541091" y="8563808"/>
            <a:ext cx="494864" cy="486833"/>
          </a:xfrm>
        </p:spPr>
        <p:txBody>
          <a:bodyPr/>
          <a:lstStyle/>
          <a:p>
            <a:fld id="{11C36F0B-2439-4BA9-927A-D72B7D6C9B36}" type="slidenum">
              <a:rPr lang="en-IN" smtClean="0"/>
              <a:t>‹#›</a:t>
            </a:fld>
            <a:endParaRPr lang="en-IN"/>
          </a:p>
        </p:txBody>
      </p:sp>
    </p:spTree>
    <p:extLst>
      <p:ext uri="{BB962C8B-B14F-4D97-AF65-F5344CB8AC3E}">
        <p14:creationId xmlns:p14="http://schemas.microsoft.com/office/powerpoint/2010/main" val="64691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2605053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33731" y="7645246"/>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6858000" cy="623449"/>
          </a:xfrm>
          <a:prstGeom prst="rect">
            <a:avLst/>
          </a:prstGeom>
          <a:noFill/>
          <a:ln>
            <a:noFill/>
          </a:ln>
        </p:spPr>
      </p:pic>
    </p:spTree>
    <p:extLst>
      <p:ext uri="{BB962C8B-B14F-4D97-AF65-F5344CB8AC3E}">
        <p14:creationId xmlns:p14="http://schemas.microsoft.com/office/powerpoint/2010/main" val="1599113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33736" y="1963818"/>
            <a:ext cx="6390529" cy="2321727"/>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177"/>
            </a:lvl2pPr>
            <a:lvl3pPr lvl="2" algn="ctr" rtl="0">
              <a:spcBef>
                <a:spcPts val="0"/>
              </a:spcBef>
              <a:spcAft>
                <a:spcPts val="0"/>
              </a:spcAft>
              <a:buSzPts val="3600"/>
              <a:buNone/>
              <a:defRPr sz="3177"/>
            </a:lvl3pPr>
            <a:lvl4pPr lvl="3" algn="ctr" rtl="0">
              <a:spcBef>
                <a:spcPts val="0"/>
              </a:spcBef>
              <a:spcAft>
                <a:spcPts val="0"/>
              </a:spcAft>
              <a:buSzPts val="3600"/>
              <a:buNone/>
              <a:defRPr sz="3177"/>
            </a:lvl4pPr>
            <a:lvl5pPr lvl="4" algn="ctr" rtl="0">
              <a:spcBef>
                <a:spcPts val="0"/>
              </a:spcBef>
              <a:spcAft>
                <a:spcPts val="0"/>
              </a:spcAft>
              <a:buSzPts val="3600"/>
              <a:buNone/>
              <a:defRPr sz="3177"/>
            </a:lvl5pPr>
            <a:lvl6pPr lvl="5" algn="ctr" rtl="0">
              <a:spcBef>
                <a:spcPts val="0"/>
              </a:spcBef>
              <a:spcAft>
                <a:spcPts val="0"/>
              </a:spcAft>
              <a:buSzPts val="3600"/>
              <a:buNone/>
              <a:defRPr sz="3177"/>
            </a:lvl6pPr>
            <a:lvl7pPr lvl="6" algn="ctr" rtl="0">
              <a:spcBef>
                <a:spcPts val="0"/>
              </a:spcBef>
              <a:spcAft>
                <a:spcPts val="0"/>
              </a:spcAft>
              <a:buSzPts val="3600"/>
              <a:buNone/>
              <a:defRPr sz="3177"/>
            </a:lvl7pPr>
            <a:lvl8pPr lvl="7" algn="ctr" rtl="0">
              <a:spcBef>
                <a:spcPts val="0"/>
              </a:spcBef>
              <a:spcAft>
                <a:spcPts val="0"/>
              </a:spcAft>
              <a:buSzPts val="3600"/>
              <a:buNone/>
              <a:defRPr sz="3177"/>
            </a:lvl8pPr>
            <a:lvl9pPr lvl="8" algn="ctr" rtl="0">
              <a:spcBef>
                <a:spcPts val="0"/>
              </a:spcBef>
              <a:spcAft>
                <a:spcPts val="0"/>
              </a:spcAft>
              <a:buSzPts val="3600"/>
              <a:buNone/>
              <a:defRPr sz="3177"/>
            </a:lvl9pPr>
          </a:lstStyle>
          <a:p>
            <a:endParaRPr/>
          </a:p>
        </p:txBody>
      </p:sp>
      <p:pic>
        <p:nvPicPr>
          <p:cNvPr id="16" name="Google Shape;16;p3"/>
          <p:cNvPicPr preferRelativeResize="0"/>
          <p:nvPr/>
        </p:nvPicPr>
        <p:blipFill>
          <a:blip r:embed="rId2">
            <a:alphaModFix/>
          </a:blip>
          <a:stretch>
            <a:fillRect/>
          </a:stretch>
        </p:blipFill>
        <p:spPr>
          <a:xfrm>
            <a:off x="6194293" y="140273"/>
            <a:ext cx="468000" cy="482182"/>
          </a:xfrm>
          <a:prstGeom prst="rect">
            <a:avLst/>
          </a:prstGeom>
          <a:noFill/>
          <a:ln>
            <a:noFill/>
          </a:ln>
        </p:spPr>
      </p:pic>
      <p:pic>
        <p:nvPicPr>
          <p:cNvPr id="17" name="Google Shape;17;p3"/>
          <p:cNvPicPr preferRelativeResize="0"/>
          <p:nvPr/>
        </p:nvPicPr>
        <p:blipFill>
          <a:blip r:embed="rId3">
            <a:alphaModFix/>
          </a:blip>
          <a:stretch>
            <a:fillRect/>
          </a:stretch>
        </p:blipFill>
        <p:spPr>
          <a:xfrm>
            <a:off x="738640" y="4147000"/>
            <a:ext cx="924485" cy="138545"/>
          </a:xfrm>
          <a:prstGeom prst="rect">
            <a:avLst/>
          </a:prstGeom>
          <a:noFill/>
          <a:ln>
            <a:noFill/>
          </a:ln>
        </p:spPr>
      </p:pic>
    </p:spTree>
    <p:extLst>
      <p:ext uri="{BB962C8B-B14F-4D97-AF65-F5344CB8AC3E}">
        <p14:creationId xmlns:p14="http://schemas.microsoft.com/office/powerpoint/2010/main" val="3723343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780132" y="7174524"/>
            <a:ext cx="5297824" cy="1590273"/>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6194293" y="140273"/>
            <a:ext cx="468000" cy="482182"/>
          </a:xfrm>
          <a:prstGeom prst="rect">
            <a:avLst/>
          </a:prstGeom>
          <a:noFill/>
          <a:ln>
            <a:noFill/>
          </a:ln>
        </p:spPr>
      </p:pic>
    </p:spTree>
    <p:extLst>
      <p:ext uri="{BB962C8B-B14F-4D97-AF65-F5344CB8AC3E}">
        <p14:creationId xmlns:p14="http://schemas.microsoft.com/office/powerpoint/2010/main" val="4029371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1668344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33731" y="7645246"/>
            <a:ext cx="6390529" cy="1018091"/>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177">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6858000" cy="623449"/>
          </a:xfrm>
          <a:prstGeom prst="rect">
            <a:avLst/>
          </a:prstGeom>
          <a:noFill/>
          <a:ln>
            <a:noFill/>
          </a:ln>
        </p:spPr>
      </p:pic>
    </p:spTree>
    <p:extLst>
      <p:ext uri="{BB962C8B-B14F-4D97-AF65-F5344CB8AC3E}">
        <p14:creationId xmlns:p14="http://schemas.microsoft.com/office/powerpoint/2010/main" val="994853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33736" y="1963818"/>
            <a:ext cx="6390529" cy="2321727"/>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3883">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177"/>
            </a:lvl2pPr>
            <a:lvl3pPr lvl="2" algn="ctr" rtl="0">
              <a:spcBef>
                <a:spcPts val="0"/>
              </a:spcBef>
              <a:spcAft>
                <a:spcPts val="0"/>
              </a:spcAft>
              <a:buSzPts val="3600"/>
              <a:buNone/>
              <a:defRPr sz="3177"/>
            </a:lvl3pPr>
            <a:lvl4pPr lvl="3" algn="ctr" rtl="0">
              <a:spcBef>
                <a:spcPts val="0"/>
              </a:spcBef>
              <a:spcAft>
                <a:spcPts val="0"/>
              </a:spcAft>
              <a:buSzPts val="3600"/>
              <a:buNone/>
              <a:defRPr sz="3177"/>
            </a:lvl4pPr>
            <a:lvl5pPr lvl="4" algn="ctr" rtl="0">
              <a:spcBef>
                <a:spcPts val="0"/>
              </a:spcBef>
              <a:spcAft>
                <a:spcPts val="0"/>
              </a:spcAft>
              <a:buSzPts val="3600"/>
              <a:buNone/>
              <a:defRPr sz="3177"/>
            </a:lvl5pPr>
            <a:lvl6pPr lvl="5" algn="ctr" rtl="0">
              <a:spcBef>
                <a:spcPts val="0"/>
              </a:spcBef>
              <a:spcAft>
                <a:spcPts val="0"/>
              </a:spcAft>
              <a:buSzPts val="3600"/>
              <a:buNone/>
              <a:defRPr sz="3177"/>
            </a:lvl6pPr>
            <a:lvl7pPr lvl="6" algn="ctr" rtl="0">
              <a:spcBef>
                <a:spcPts val="0"/>
              </a:spcBef>
              <a:spcAft>
                <a:spcPts val="0"/>
              </a:spcAft>
              <a:buSzPts val="3600"/>
              <a:buNone/>
              <a:defRPr sz="3177"/>
            </a:lvl7pPr>
            <a:lvl8pPr lvl="7" algn="ctr" rtl="0">
              <a:spcBef>
                <a:spcPts val="0"/>
              </a:spcBef>
              <a:spcAft>
                <a:spcPts val="0"/>
              </a:spcAft>
              <a:buSzPts val="3600"/>
              <a:buNone/>
              <a:defRPr sz="3177"/>
            </a:lvl8pPr>
            <a:lvl9pPr lvl="8" algn="ctr" rtl="0">
              <a:spcBef>
                <a:spcPts val="0"/>
              </a:spcBef>
              <a:spcAft>
                <a:spcPts val="0"/>
              </a:spcAft>
              <a:buSzPts val="3600"/>
              <a:buNone/>
              <a:defRPr sz="3177"/>
            </a:lvl9pPr>
          </a:lstStyle>
          <a:p>
            <a:endParaRPr/>
          </a:p>
        </p:txBody>
      </p:sp>
      <p:pic>
        <p:nvPicPr>
          <p:cNvPr id="16" name="Google Shape;16;p3"/>
          <p:cNvPicPr preferRelativeResize="0"/>
          <p:nvPr/>
        </p:nvPicPr>
        <p:blipFill>
          <a:blip r:embed="rId2">
            <a:alphaModFix/>
          </a:blip>
          <a:stretch>
            <a:fillRect/>
          </a:stretch>
        </p:blipFill>
        <p:spPr>
          <a:xfrm>
            <a:off x="6194293" y="140273"/>
            <a:ext cx="468000" cy="482182"/>
          </a:xfrm>
          <a:prstGeom prst="rect">
            <a:avLst/>
          </a:prstGeom>
          <a:noFill/>
          <a:ln>
            <a:noFill/>
          </a:ln>
        </p:spPr>
      </p:pic>
      <p:pic>
        <p:nvPicPr>
          <p:cNvPr id="17" name="Google Shape;17;p3"/>
          <p:cNvPicPr preferRelativeResize="0"/>
          <p:nvPr/>
        </p:nvPicPr>
        <p:blipFill>
          <a:blip r:embed="rId3">
            <a:alphaModFix/>
          </a:blip>
          <a:stretch>
            <a:fillRect/>
          </a:stretch>
        </p:blipFill>
        <p:spPr>
          <a:xfrm>
            <a:off x="738640" y="4147000"/>
            <a:ext cx="924485" cy="138545"/>
          </a:xfrm>
          <a:prstGeom prst="rect">
            <a:avLst/>
          </a:prstGeom>
          <a:noFill/>
          <a:ln>
            <a:noFill/>
          </a:ln>
        </p:spPr>
      </p:pic>
    </p:spTree>
    <p:extLst>
      <p:ext uri="{BB962C8B-B14F-4D97-AF65-F5344CB8AC3E}">
        <p14:creationId xmlns:p14="http://schemas.microsoft.com/office/powerpoint/2010/main" val="127011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move slide">
  <p:cSld name="Remove slide">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780132" y="7174524"/>
            <a:ext cx="5297824" cy="1590273"/>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3177" b="1" i="1">
                <a:solidFill>
                  <a:srgbClr val="15C26B"/>
                </a:solidFill>
                <a:latin typeface="Open Sans"/>
                <a:ea typeface="Open Sans"/>
                <a:cs typeface="Open Sans"/>
                <a:sym typeface="Open Sans"/>
              </a:rPr>
              <a:t>Remove this slide </a:t>
            </a:r>
            <a:endParaRPr sz="3177"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6194293" y="140273"/>
            <a:ext cx="468000" cy="482182"/>
          </a:xfrm>
          <a:prstGeom prst="rect">
            <a:avLst/>
          </a:prstGeom>
          <a:noFill/>
          <a:ln>
            <a:noFill/>
          </a:ln>
        </p:spPr>
      </p:pic>
    </p:spTree>
    <p:extLst>
      <p:ext uri="{BB962C8B-B14F-4D97-AF65-F5344CB8AC3E}">
        <p14:creationId xmlns:p14="http://schemas.microsoft.com/office/powerpoint/2010/main" val="17660655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fo Slide">
  <p:cSld name="Info Slide">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6858000" cy="723545"/>
          </a:xfrm>
          <a:prstGeom prst="rect">
            <a:avLst/>
          </a:prstGeom>
          <a:solidFill>
            <a:srgbClr val="DBE2E8"/>
          </a:solidFill>
          <a:ln>
            <a:noFill/>
          </a:ln>
        </p:spPr>
        <p:txBody>
          <a:bodyPr spcFirstLastPara="1" wrap="square" lIns="80669" tIns="80669" rIns="80669" bIns="80669" anchor="ctr" anchorCtr="0">
            <a:noAutofit/>
          </a:bodyPr>
          <a:lstStyle/>
          <a:p>
            <a:pPr marL="0" lvl="0" indent="0" algn="ctr" rtl="0">
              <a:spcBef>
                <a:spcPts val="0"/>
              </a:spcBef>
              <a:spcAft>
                <a:spcPts val="0"/>
              </a:spcAft>
              <a:buNone/>
            </a:pPr>
            <a:r>
              <a:rPr lang="en" sz="1941" b="1" i="1">
                <a:solidFill>
                  <a:srgbClr val="15C26B"/>
                </a:solidFill>
                <a:latin typeface="Open Sans"/>
                <a:ea typeface="Open Sans"/>
                <a:cs typeface="Open Sans"/>
                <a:sym typeface="Open Sans"/>
              </a:rPr>
              <a:t>Project Information Slide</a:t>
            </a:r>
            <a:endParaRPr sz="1941"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33775" y="791155"/>
            <a:ext cx="6390529" cy="1018091"/>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2824">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33775" y="2048845"/>
            <a:ext cx="6390529" cy="6073636"/>
          </a:xfrm>
          <a:prstGeom prst="rect">
            <a:avLst/>
          </a:prstGeom>
        </p:spPr>
        <p:txBody>
          <a:bodyPr spcFirstLastPara="1" wrap="square" lIns="91425" tIns="91425" rIns="91425" bIns="91425" anchor="t" anchorCtr="0">
            <a:noAutofit/>
          </a:bodyPr>
          <a:lstStyle>
            <a:lvl1pPr marL="403433" lvl="0" indent="-302575"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806867" lvl="1"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2pPr>
            <a:lvl3pPr marL="1210300" lvl="2"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3pPr>
            <a:lvl4pPr marL="1613733" lvl="3"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4pPr>
            <a:lvl5pPr marL="2017166" lvl="4"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5pPr>
            <a:lvl6pPr marL="2420600" lvl="5"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6pPr>
            <a:lvl7pPr marL="2824033" lvl="6"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7pPr>
            <a:lvl8pPr marL="3227466" lvl="7" indent="-302575" rtl="0">
              <a:spcBef>
                <a:spcPts val="1412"/>
              </a:spcBef>
              <a:spcAft>
                <a:spcPts val="0"/>
              </a:spcAft>
              <a:buSzPts val="1800"/>
              <a:buFont typeface="Open Sans Light"/>
              <a:buChar char="○"/>
              <a:defRPr sz="1588">
                <a:latin typeface="Open Sans Light"/>
                <a:ea typeface="Open Sans Light"/>
                <a:cs typeface="Open Sans Light"/>
                <a:sym typeface="Open Sans Light"/>
              </a:defRPr>
            </a:lvl8pPr>
            <a:lvl9pPr marL="3630900" lvl="8" indent="-302575" rtl="0">
              <a:spcBef>
                <a:spcPts val="1412"/>
              </a:spcBef>
              <a:spcAft>
                <a:spcPts val="1412"/>
              </a:spcAft>
              <a:buSzPts val="1800"/>
              <a:buFont typeface="Open Sans Light"/>
              <a:buChar char="■"/>
              <a:defRPr sz="1588">
                <a:latin typeface="Open Sans Light"/>
                <a:ea typeface="Open Sans Light"/>
                <a:cs typeface="Open Sans Light"/>
                <a:sym typeface="Open Sans Light"/>
              </a:defRPr>
            </a:lvl9pPr>
          </a:lstStyle>
          <a:p>
            <a:endParaRPr/>
          </a:p>
        </p:txBody>
      </p:sp>
    </p:spTree>
    <p:extLst>
      <p:ext uri="{BB962C8B-B14F-4D97-AF65-F5344CB8AC3E}">
        <p14:creationId xmlns:p14="http://schemas.microsoft.com/office/powerpoint/2010/main" val="1104244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3.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71" y="234813"/>
            <a:ext cx="6856286" cy="21945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513764" y="378901"/>
            <a:ext cx="5829300" cy="2011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764" y="2682240"/>
            <a:ext cx="5829300" cy="5608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1168" y="8563808"/>
            <a:ext cx="1946282" cy="486833"/>
          </a:xfrm>
          <a:prstGeom prst="rect">
            <a:avLst/>
          </a:prstGeom>
        </p:spPr>
        <p:txBody>
          <a:bodyPr vert="horz" lIns="91440" tIns="45720" rIns="45720" bIns="45720" rtlCol="0" anchor="ctr"/>
          <a:lstStyle>
            <a:lvl1pPr algn="l">
              <a:defRPr sz="788">
                <a:solidFill>
                  <a:schemeClr val="tx1"/>
                </a:solidFill>
              </a:defRPr>
            </a:lvl1pPr>
          </a:lstStyle>
          <a:p>
            <a:fld id="{7001F6B2-25AA-4F49-8B29-A540EB52E9E6}" type="datetimeFigureOut">
              <a:rPr lang="en-IN" smtClean="0"/>
              <a:t>20-01-2025</a:t>
            </a:fld>
            <a:endParaRPr lang="en-IN"/>
          </a:p>
        </p:txBody>
      </p:sp>
      <p:sp>
        <p:nvSpPr>
          <p:cNvPr id="5" name="Footer Placeholder 4"/>
          <p:cNvSpPr>
            <a:spLocks noGrp="1"/>
          </p:cNvSpPr>
          <p:nvPr>
            <p:ph type="ftr" sz="quarter" idx="3"/>
          </p:nvPr>
        </p:nvSpPr>
        <p:spPr>
          <a:xfrm>
            <a:off x="3143251" y="8563808"/>
            <a:ext cx="3045470" cy="486833"/>
          </a:xfrm>
          <a:prstGeom prst="rect">
            <a:avLst/>
          </a:prstGeom>
        </p:spPr>
        <p:txBody>
          <a:bodyPr vert="horz" lIns="91440" tIns="45720" rIns="91440" bIns="45720" rtlCol="0" anchor="ctr"/>
          <a:lstStyle>
            <a:lvl1pPr algn="r">
              <a:defRPr sz="788">
                <a:solidFill>
                  <a:schemeClr val="tx1"/>
                </a:solidFill>
              </a:defRPr>
            </a:lvl1pPr>
          </a:lstStyle>
          <a:p>
            <a:endParaRPr lang="en-IN"/>
          </a:p>
        </p:txBody>
      </p:sp>
      <p:sp>
        <p:nvSpPr>
          <p:cNvPr id="6" name="Slide Number Placeholder 5"/>
          <p:cNvSpPr>
            <a:spLocks noGrp="1"/>
          </p:cNvSpPr>
          <p:nvPr>
            <p:ph type="sldNum" sz="quarter" idx="4"/>
          </p:nvPr>
        </p:nvSpPr>
        <p:spPr>
          <a:xfrm>
            <a:off x="6198854" y="8563808"/>
            <a:ext cx="532274" cy="486833"/>
          </a:xfrm>
          <a:prstGeom prst="rect">
            <a:avLst/>
          </a:prstGeom>
        </p:spPr>
        <p:txBody>
          <a:bodyPr vert="horz" lIns="45720" tIns="45720" rIns="91440" bIns="45720" rtlCol="0" anchor="ctr"/>
          <a:lstStyle>
            <a:lvl1pPr algn="l">
              <a:defRPr sz="900" b="0">
                <a:solidFill>
                  <a:schemeClr val="tx1"/>
                </a:solidFill>
              </a:defRPr>
            </a:lvl1pPr>
          </a:lstStyle>
          <a:p>
            <a:fld id="{11C36F0B-2439-4BA9-927A-D72B7D6C9B36}" type="slidenum">
              <a:rPr lang="en-IN" smtClean="0"/>
              <a:t>‹#›</a:t>
            </a:fld>
            <a:endParaRPr lang="en-IN"/>
          </a:p>
        </p:txBody>
      </p:sp>
    </p:spTree>
    <p:extLst>
      <p:ext uri="{BB962C8B-B14F-4D97-AF65-F5344CB8AC3E}">
        <p14:creationId xmlns:p14="http://schemas.microsoft.com/office/powerpoint/2010/main" val="336045745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txStyles>
    <p:titleStyle>
      <a:lvl1pPr algn="l" defTabSz="685800" rtl="0" eaLnBrk="1" latinLnBrk="0" hangingPunct="1">
        <a:lnSpc>
          <a:spcPct val="85000"/>
        </a:lnSpc>
        <a:spcBef>
          <a:spcPct val="0"/>
        </a:spcBef>
        <a:buNone/>
        <a:defRPr sz="3000" kern="1200" cap="all" baseline="0">
          <a:solidFill>
            <a:schemeClr val="bg2"/>
          </a:solidFill>
          <a:latin typeface="+mj-lt"/>
          <a:ea typeface="+mj-ea"/>
          <a:cs typeface="+mj-cs"/>
        </a:defRPr>
      </a:lvl1pPr>
    </p:titleStyle>
    <p:bodyStyle>
      <a:lvl1pPr marL="137160" indent="-137160" algn="l" defTabSz="685800" rtl="0" eaLnBrk="1" latinLnBrk="0" hangingPunct="1">
        <a:lnSpc>
          <a:spcPct val="90000"/>
        </a:lnSpc>
        <a:spcBef>
          <a:spcPts val="900"/>
        </a:spcBef>
        <a:spcAft>
          <a:spcPts val="150"/>
        </a:spcAft>
        <a:buClr>
          <a:schemeClr val="tx1"/>
        </a:buClr>
        <a:buFont typeface="Wingdings" pitchFamily="2" charset="2"/>
        <a:buChar char=""/>
        <a:defRPr sz="1650" kern="1200">
          <a:solidFill>
            <a:schemeClr val="tx1"/>
          </a:solidFill>
          <a:latin typeface="+mn-lt"/>
          <a:ea typeface="+mn-ea"/>
          <a:cs typeface="+mn-cs"/>
        </a:defRPr>
      </a:lvl1pPr>
      <a:lvl2pPr marL="308610" indent="-137160" algn="l" defTabSz="685800" rtl="0" eaLnBrk="1" latinLnBrk="0" hangingPunct="1">
        <a:lnSpc>
          <a:spcPct val="90000"/>
        </a:lnSpc>
        <a:spcBef>
          <a:spcPts val="150"/>
        </a:spcBef>
        <a:spcAft>
          <a:spcPts val="300"/>
        </a:spcAft>
        <a:buClr>
          <a:schemeClr val="tx1"/>
        </a:buClr>
        <a:buFont typeface="Wingdings" pitchFamily="2" charset="2"/>
        <a:buChar char=""/>
        <a:defRPr sz="1500" kern="1200">
          <a:solidFill>
            <a:schemeClr val="tx1"/>
          </a:solidFill>
          <a:latin typeface="+mn-lt"/>
          <a:ea typeface="+mn-ea"/>
          <a:cs typeface="+mn-cs"/>
        </a:defRPr>
      </a:lvl2pPr>
      <a:lvl3pPr marL="480060" indent="-137160" algn="l" defTabSz="685800" rtl="0" eaLnBrk="1" latinLnBrk="0" hangingPunct="1">
        <a:lnSpc>
          <a:spcPct val="90000"/>
        </a:lnSpc>
        <a:spcBef>
          <a:spcPts val="150"/>
        </a:spcBef>
        <a:spcAft>
          <a:spcPts val="300"/>
        </a:spcAft>
        <a:buClr>
          <a:schemeClr val="tx1"/>
        </a:buClr>
        <a:buFont typeface="Wingdings" pitchFamily="2" charset="2"/>
        <a:buChar char=""/>
        <a:defRPr sz="1350" kern="1200">
          <a:solidFill>
            <a:schemeClr val="tx1"/>
          </a:solidFill>
          <a:latin typeface="+mn-lt"/>
          <a:ea typeface="+mn-ea"/>
          <a:cs typeface="+mn-cs"/>
        </a:defRPr>
      </a:lvl3pPr>
      <a:lvl4pPr marL="65151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4pPr>
      <a:lvl5pPr marL="822960" indent="-13716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5pPr>
      <a:lvl6pPr marL="9634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6pPr>
      <a:lvl7pPr marL="11038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7pPr>
      <a:lvl8pPr marL="12217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8pPr>
      <a:lvl9pPr marL="1354650" indent="-171450" algn="l" defTabSz="685800" rtl="0" eaLnBrk="1" latinLnBrk="0" hangingPunct="1">
        <a:lnSpc>
          <a:spcPct val="90000"/>
        </a:lnSpc>
        <a:spcBef>
          <a:spcPts val="150"/>
        </a:spcBef>
        <a:spcAft>
          <a:spcPts val="300"/>
        </a:spcAft>
        <a:buClr>
          <a:schemeClr val="tx1"/>
        </a:buClr>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lvl="0" algn="r" rtl="0">
              <a:buNone/>
              <a:defRPr sz="882">
                <a:solidFill>
                  <a:schemeClr val="dk2"/>
                </a:solidFill>
              </a:defRPr>
            </a:lvl1pPr>
            <a:lvl2pPr lvl="1" algn="r" rtl="0">
              <a:buNone/>
              <a:defRPr sz="882">
                <a:solidFill>
                  <a:schemeClr val="dk2"/>
                </a:solidFill>
              </a:defRPr>
            </a:lvl2pPr>
            <a:lvl3pPr lvl="2" algn="r" rtl="0">
              <a:buNone/>
              <a:defRPr sz="882">
                <a:solidFill>
                  <a:schemeClr val="dk2"/>
                </a:solidFill>
              </a:defRPr>
            </a:lvl3pPr>
            <a:lvl4pPr lvl="3" algn="r" rtl="0">
              <a:buNone/>
              <a:defRPr sz="882">
                <a:solidFill>
                  <a:schemeClr val="dk2"/>
                </a:solidFill>
              </a:defRPr>
            </a:lvl4pPr>
            <a:lvl5pPr lvl="4" algn="r" rtl="0">
              <a:buNone/>
              <a:defRPr sz="882">
                <a:solidFill>
                  <a:schemeClr val="dk2"/>
                </a:solidFill>
              </a:defRPr>
            </a:lvl5pPr>
            <a:lvl6pPr lvl="5" algn="r" rtl="0">
              <a:buNone/>
              <a:defRPr sz="882">
                <a:solidFill>
                  <a:schemeClr val="dk2"/>
                </a:solidFill>
              </a:defRPr>
            </a:lvl6pPr>
            <a:lvl7pPr lvl="6" algn="r" rtl="0">
              <a:buNone/>
              <a:defRPr sz="882">
                <a:solidFill>
                  <a:schemeClr val="dk2"/>
                </a:solidFill>
              </a:defRPr>
            </a:lvl7pPr>
            <a:lvl8pPr lvl="7" algn="r" rtl="0">
              <a:buNone/>
              <a:defRPr sz="882">
                <a:solidFill>
                  <a:schemeClr val="dk2"/>
                </a:solidFill>
              </a:defRPr>
            </a:lvl8pPr>
            <a:lvl9pPr lvl="8" algn="r" rtl="0">
              <a:buNone/>
              <a:defRPr sz="882">
                <a:solidFill>
                  <a:schemeClr val="dk2"/>
                </a:solidFill>
              </a:defRPr>
            </a:lvl9pPr>
          </a:lstStyle>
          <a:p>
            <a:fld id="{00000000-1234-1234-1234-123412341234}" type="slidenum">
              <a:rPr lang="en" smtClean="0"/>
              <a:pPr/>
              <a:t>‹#›</a:t>
            </a:fld>
            <a:endParaRPr lang="en"/>
          </a:p>
        </p:txBody>
      </p:sp>
      <p:sp>
        <p:nvSpPr>
          <p:cNvPr id="9" name="Google Shape;9;p1"/>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425291354"/>
      </p:ext>
    </p:extLst>
  </p:cSld>
  <p:clrMap bg1="lt1" tx1="dk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5"/>
            <a:ext cx="6390529" cy="1018091"/>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5"/>
            <a:ext cx="6390529" cy="6073636"/>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6354343" y="8290164"/>
            <a:ext cx="411618" cy="699818"/>
          </a:xfrm>
          <a:prstGeom prst="rect">
            <a:avLst/>
          </a:prstGeom>
          <a:noFill/>
          <a:ln>
            <a:noFill/>
          </a:ln>
        </p:spPr>
        <p:txBody>
          <a:bodyPr spcFirstLastPara="1" wrap="square" lIns="91425" tIns="91425" rIns="91425" bIns="91425" anchor="ctr" anchorCtr="0">
            <a:noAutofit/>
          </a:bodyPr>
          <a:lstStyle>
            <a:lvl1pPr lvl="0" algn="r" rtl="0">
              <a:buNone/>
              <a:defRPr sz="882">
                <a:solidFill>
                  <a:schemeClr val="dk2"/>
                </a:solidFill>
              </a:defRPr>
            </a:lvl1pPr>
            <a:lvl2pPr lvl="1" algn="r" rtl="0">
              <a:buNone/>
              <a:defRPr sz="882">
                <a:solidFill>
                  <a:schemeClr val="dk2"/>
                </a:solidFill>
              </a:defRPr>
            </a:lvl2pPr>
            <a:lvl3pPr lvl="2" algn="r" rtl="0">
              <a:buNone/>
              <a:defRPr sz="882">
                <a:solidFill>
                  <a:schemeClr val="dk2"/>
                </a:solidFill>
              </a:defRPr>
            </a:lvl3pPr>
            <a:lvl4pPr lvl="3" algn="r" rtl="0">
              <a:buNone/>
              <a:defRPr sz="882">
                <a:solidFill>
                  <a:schemeClr val="dk2"/>
                </a:solidFill>
              </a:defRPr>
            </a:lvl4pPr>
            <a:lvl5pPr lvl="4" algn="r" rtl="0">
              <a:buNone/>
              <a:defRPr sz="882">
                <a:solidFill>
                  <a:schemeClr val="dk2"/>
                </a:solidFill>
              </a:defRPr>
            </a:lvl5pPr>
            <a:lvl6pPr lvl="5" algn="r" rtl="0">
              <a:buNone/>
              <a:defRPr sz="882">
                <a:solidFill>
                  <a:schemeClr val="dk2"/>
                </a:solidFill>
              </a:defRPr>
            </a:lvl6pPr>
            <a:lvl7pPr lvl="6" algn="r" rtl="0">
              <a:buNone/>
              <a:defRPr sz="882">
                <a:solidFill>
                  <a:schemeClr val="dk2"/>
                </a:solidFill>
              </a:defRPr>
            </a:lvl7pPr>
            <a:lvl8pPr lvl="7" algn="r" rtl="0">
              <a:buNone/>
              <a:defRPr sz="882">
                <a:solidFill>
                  <a:schemeClr val="dk2"/>
                </a:solidFill>
              </a:defRPr>
            </a:lvl8pPr>
            <a:lvl9pPr lvl="8" algn="r" rtl="0">
              <a:buNone/>
              <a:defRPr sz="882">
                <a:solidFill>
                  <a:schemeClr val="dk2"/>
                </a:solidFill>
              </a:defRPr>
            </a:lvl9pPr>
          </a:lstStyle>
          <a:p>
            <a:fld id="{00000000-1234-1234-1234-123412341234}" type="slidenum">
              <a:rPr lang="en" smtClean="0"/>
              <a:pPr/>
              <a:t>‹#›</a:t>
            </a:fld>
            <a:endParaRPr lang="en"/>
          </a:p>
        </p:txBody>
      </p:sp>
      <p:sp>
        <p:nvSpPr>
          <p:cNvPr id="9" name="Google Shape;9;p1"/>
          <p:cNvSpPr/>
          <p:nvPr/>
        </p:nvSpPr>
        <p:spPr>
          <a:xfrm>
            <a:off x="-10" y="876756"/>
            <a:ext cx="28588" cy="846818"/>
          </a:xfrm>
          <a:prstGeom prst="rect">
            <a:avLst/>
          </a:prstGeom>
          <a:solidFill>
            <a:srgbClr val="15C26B"/>
          </a:solidFill>
          <a:ln>
            <a:noFill/>
          </a:ln>
        </p:spPr>
        <p:txBody>
          <a:bodyPr spcFirstLastPara="1" wrap="square" lIns="23625" tIns="23625" rIns="23625" bIns="2362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059" b="0" i="0" u="none" strike="noStrike" cap="none">
              <a:solidFill>
                <a:srgbClr val="FFFFFF"/>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880503651"/>
      </p:ext>
    </p:extLst>
  </p:cSld>
  <p:clrMap bg1="lt1" tx1="dk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3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1630-0811-4527-B3F7-DDD2796E7E0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8334C46-6152-4895-8528-D35809CE033B}"/>
              </a:ext>
            </a:extLst>
          </p:cNvPr>
          <p:cNvSpPr>
            <a:spLocks noGrp="1"/>
          </p:cNvSpPr>
          <p:nvPr>
            <p:ph type="subTitle" idx="1"/>
          </p:nvPr>
        </p:nvSpPr>
        <p:spPr/>
        <p:txBody>
          <a:bodyPr/>
          <a:lstStyle/>
          <a:p>
            <a:endParaRPr lang="en-IN"/>
          </a:p>
        </p:txBody>
      </p:sp>
      <p:pic>
        <p:nvPicPr>
          <p:cNvPr id="4" name="Google Shape;35;p7">
            <a:extLst>
              <a:ext uri="{FF2B5EF4-FFF2-40B4-BE49-F238E27FC236}">
                <a16:creationId xmlns:a16="http://schemas.microsoft.com/office/drawing/2014/main" id="{BBE7CED8-4D34-49D5-AC83-7B3C4F6A163C}"/>
              </a:ext>
            </a:extLst>
          </p:cNvPr>
          <p:cNvPicPr preferRelativeResize="0"/>
          <p:nvPr/>
        </p:nvPicPr>
        <p:blipFill rotWithShape="1">
          <a:blip r:embed="rId2">
            <a:alphaModFix/>
          </a:blip>
          <a:srcRect l="1606" r="1606"/>
          <a:stretch/>
        </p:blipFill>
        <p:spPr>
          <a:xfrm>
            <a:off x="0" y="1335505"/>
            <a:ext cx="6858000" cy="6473477"/>
          </a:xfrm>
          <a:prstGeom prst="rect">
            <a:avLst/>
          </a:prstGeom>
          <a:noFill/>
          <a:ln>
            <a:noFill/>
          </a:ln>
        </p:spPr>
      </p:pic>
      <p:sp>
        <p:nvSpPr>
          <p:cNvPr id="6" name="Google Shape;36;p7">
            <a:extLst>
              <a:ext uri="{FF2B5EF4-FFF2-40B4-BE49-F238E27FC236}">
                <a16:creationId xmlns:a16="http://schemas.microsoft.com/office/drawing/2014/main" id="{EC02DC39-A980-45DF-8F66-9C4076BBCF2F}"/>
              </a:ext>
            </a:extLst>
          </p:cNvPr>
          <p:cNvSpPr txBox="1">
            <a:spLocks/>
          </p:cNvSpPr>
          <p:nvPr/>
        </p:nvSpPr>
        <p:spPr>
          <a:xfrm>
            <a:off x="86262" y="600989"/>
            <a:ext cx="6685477" cy="1033754"/>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4154" dirty="0">
                <a:solidFill>
                  <a:schemeClr val="tx1"/>
                </a:solidFill>
              </a:rPr>
              <a:t>Security Assessment</a:t>
            </a:r>
          </a:p>
        </p:txBody>
      </p:sp>
      <p:sp>
        <p:nvSpPr>
          <p:cNvPr id="7" name="Google Shape;37;p7">
            <a:extLst>
              <a:ext uri="{FF2B5EF4-FFF2-40B4-BE49-F238E27FC236}">
                <a16:creationId xmlns:a16="http://schemas.microsoft.com/office/drawing/2014/main" id="{4BEC11E8-86C9-47B7-8BBA-DA53814D1AFC}"/>
              </a:ext>
            </a:extLst>
          </p:cNvPr>
          <p:cNvSpPr txBox="1">
            <a:spLocks/>
          </p:cNvSpPr>
          <p:nvPr/>
        </p:nvSpPr>
        <p:spPr>
          <a:xfrm>
            <a:off x="86262" y="7668724"/>
            <a:ext cx="6685477" cy="1398185"/>
          </a:xfrm>
          <a:prstGeom prst="rect">
            <a:avLst/>
          </a:prstGeom>
        </p:spPr>
        <p:txBody>
          <a:bodyPr spcFirstLastPara="1" vert="horz" wrap="square" lIns="84392" tIns="84392" rIns="84392" bIns="84392" rtlCol="0" anchor="ctr" anchorCtr="0">
            <a:noAutofit/>
          </a:bodyPr>
          <a:lstStyle>
            <a:lvl1pPr algn="ctr" defTabSz="685800" rtl="0" eaLnBrk="1" latinLnBrk="0" hangingPunct="1">
              <a:lnSpc>
                <a:spcPct val="80000"/>
              </a:lnSpc>
              <a:spcBef>
                <a:spcPct val="0"/>
              </a:spcBef>
              <a:buNone/>
              <a:defRPr sz="4500" kern="1200" cap="all" spc="0" baseline="0">
                <a:solidFill>
                  <a:schemeClr val="bg2"/>
                </a:solidFill>
                <a:latin typeface="+mj-lt"/>
                <a:ea typeface="+mj-ea"/>
                <a:cs typeface="+mj-cs"/>
              </a:defRPr>
            </a:lvl1pPr>
          </a:lstStyle>
          <a:p>
            <a:pPr>
              <a:spcBef>
                <a:spcPts val="0"/>
              </a:spcBef>
            </a:pPr>
            <a:r>
              <a:rPr lang="en-IN" sz="3692" i="1" dirty="0">
                <a:solidFill>
                  <a:schemeClr val="tx1"/>
                </a:solidFill>
              </a:rPr>
              <a:t>[Your Name]</a:t>
            </a:r>
          </a:p>
          <a:p>
            <a:pPr>
              <a:spcBef>
                <a:spcPts val="0"/>
              </a:spcBef>
            </a:pPr>
            <a:r>
              <a:rPr lang="en-IN" sz="3692" i="1" dirty="0">
                <a:solidFill>
                  <a:schemeClr val="tx1"/>
                </a:solidFill>
              </a:rPr>
              <a:t>[Roll No]</a:t>
            </a:r>
          </a:p>
        </p:txBody>
      </p:sp>
    </p:spTree>
    <p:extLst>
      <p:ext uri="{BB962C8B-B14F-4D97-AF65-F5344CB8AC3E}">
        <p14:creationId xmlns:p14="http://schemas.microsoft.com/office/powerpoint/2010/main" val="4193713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233775" y="902357"/>
            <a:ext cx="6390529" cy="988147"/>
          </a:xfrm>
          <a:prstGeom prst="rect">
            <a:avLst/>
          </a:prstGeom>
        </p:spPr>
        <p:txBody>
          <a:bodyPr spcFirstLastPara="1" vert="horz" wrap="square" lIns="80669" tIns="80669" rIns="80669" bIns="80669" rtlCol="0" anchor="ctr" anchorCtr="0">
            <a:noAutofit/>
          </a:bodyPr>
          <a:lstStyle/>
          <a:p>
            <a:r>
              <a:rPr lang="en" dirty="0"/>
              <a:t>How to Use this Template</a:t>
            </a:r>
            <a:endParaRPr dirty="0"/>
          </a:p>
        </p:txBody>
      </p:sp>
      <p:sp>
        <p:nvSpPr>
          <p:cNvPr id="43" name="Google Shape;43;p8"/>
          <p:cNvSpPr txBox="1">
            <a:spLocks noGrp="1"/>
          </p:cNvSpPr>
          <p:nvPr>
            <p:ph type="body" idx="1"/>
          </p:nvPr>
        </p:nvSpPr>
        <p:spPr>
          <a:xfrm>
            <a:off x="233775" y="2123055"/>
            <a:ext cx="6390529" cy="5895000"/>
          </a:xfrm>
          <a:prstGeom prst="rect">
            <a:avLst/>
          </a:prstGeom>
        </p:spPr>
        <p:txBody>
          <a:bodyPr spcFirstLastPara="1" vert="horz" wrap="square" lIns="80669" tIns="80669" rIns="80669" bIns="80669" rtlCol="0" anchor="t" anchorCtr="0">
            <a:noAutofit/>
          </a:bodyPr>
          <a:lstStyle/>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We have provided these slides as a guide to ensure you submit all the required components to complete your project successfully.</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When presenting your project, remember that these slides are merely a guide. We strongly encourage you to embrace your creative freedom and make changes that reflect your unique vision as long as the required information is present.</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Light"/>
              <a:buChar char="●"/>
              <a:tabLst/>
              <a:defRPr/>
            </a:pPr>
            <a:r>
              <a:rPr kumimoji="0" lang="en-US" sz="1800" b="0" i="0" u="none" strike="noStrike" kern="0" cap="none" spc="0" normalizeH="0" baseline="0" noProof="0" dirty="0">
                <a:ln>
                  <a:noFill/>
                </a:ln>
                <a:solidFill>
                  <a:srgbClr val="525C65"/>
                </a:solidFill>
                <a:effectLst/>
                <a:uLnTx/>
                <a:uFillTx/>
                <a:latin typeface="Open Sans Light"/>
                <a:ea typeface="Open Sans Light"/>
                <a:cs typeface="Open Sans Light"/>
                <a:sym typeface="Open Sans Light"/>
              </a:rPr>
              <a:t>You can add slides to the template when your answers or screenshots do not fit on the previously provided pages.</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a:buChar char="●"/>
              <a:tabLst/>
              <a:defRPr/>
            </a:pPr>
            <a:r>
              <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rPr>
              <a:t>Remember to add your name and the date to the cover page.</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a:buChar char="●"/>
              <a:tabLst/>
              <a:defRPr/>
            </a:pPr>
            <a:r>
              <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rPr>
              <a:t>Submit this file in a PDF</a:t>
            </a:r>
          </a:p>
          <a:p>
            <a:pPr marL="457200" marR="0" lvl="0" indent="-342900" algn="l" defTabSz="914400" rtl="0" eaLnBrk="1" fontAlgn="auto" latinLnBrk="0" hangingPunct="1">
              <a:lnSpc>
                <a:spcPct val="115000"/>
              </a:lnSpc>
              <a:spcBef>
                <a:spcPts val="0"/>
              </a:spcBef>
              <a:spcAft>
                <a:spcPts val="0"/>
              </a:spcAft>
              <a:buClr>
                <a:srgbClr val="525C65"/>
              </a:buClr>
              <a:buSzPts val="1800"/>
              <a:buFont typeface="Open Sans"/>
              <a:buChar char="●"/>
              <a:tabLst/>
              <a:defRPr/>
            </a:pPr>
            <a:r>
              <a:rPr lang="en-US" sz="1800" b="1" kern="0" dirty="0">
                <a:solidFill>
                  <a:srgbClr val="525C65"/>
                </a:solidFill>
                <a:latin typeface="Open Sans"/>
                <a:ea typeface="Open Sans"/>
                <a:cs typeface="Open Sans"/>
                <a:sym typeface="Open Sans"/>
              </a:rPr>
              <a:t>Make sure the file is named in this format </a:t>
            </a:r>
          </a:p>
          <a:p>
            <a:pPr marL="114300" marR="0" lvl="0" indent="0" algn="l" defTabSz="914400" rtl="0" eaLnBrk="1" fontAlgn="auto" latinLnBrk="0" hangingPunct="1">
              <a:lnSpc>
                <a:spcPct val="115000"/>
              </a:lnSpc>
              <a:spcBef>
                <a:spcPts val="0"/>
              </a:spcBef>
              <a:spcAft>
                <a:spcPts val="0"/>
              </a:spcAft>
              <a:buClr>
                <a:srgbClr val="525C65"/>
              </a:buClr>
              <a:buSzPts val="1800"/>
              <a:buNone/>
              <a:tabLst/>
              <a:defRPr/>
            </a:pPr>
            <a:r>
              <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rPr>
              <a:t>	{FirstName}_{RollNO}.pdf</a:t>
            </a:r>
          </a:p>
          <a:p>
            <a:pPr marL="0" marR="0" lvl="0" indent="0" algn="l" defTabSz="914400" rtl="0" eaLnBrk="1" fontAlgn="auto" latinLnBrk="0" hangingPunct="1">
              <a:lnSpc>
                <a:spcPct val="115000"/>
              </a:lnSpc>
              <a:spcBef>
                <a:spcPts val="0"/>
              </a:spcBef>
              <a:spcAft>
                <a:spcPts val="0"/>
              </a:spcAft>
              <a:buClr>
                <a:srgbClr val="525C65"/>
              </a:buClr>
              <a:buSzPts val="1800"/>
              <a:buFont typeface="Open Sans Light"/>
              <a:buNone/>
              <a:tabLst/>
              <a:defRPr/>
            </a:pPr>
            <a:endParaRPr kumimoji="0" lang="en-US" sz="1800" b="1" i="0" u="none" strike="noStrike" kern="0" cap="none" spc="0" normalizeH="0" baseline="0" noProof="0" dirty="0">
              <a:ln>
                <a:noFill/>
              </a:ln>
              <a:solidFill>
                <a:srgbClr val="525C65"/>
              </a:solidFill>
              <a:effectLst/>
              <a:uLnTx/>
              <a:uFillTx/>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830997"/>
          </a:xfrm>
          <a:prstGeom prst="rect">
            <a:avLst/>
          </a:prstGeom>
          <a:noFill/>
        </p:spPr>
        <p:txBody>
          <a:bodyPr wrap="square" rtlCol="0">
            <a:spAutoFit/>
          </a:bodyPr>
          <a:lstStyle/>
          <a:p>
            <a:r>
              <a:rPr lang="en-US" sz="4800" dirty="0">
                <a:latin typeface="+mj-lt"/>
              </a:rPr>
              <a:t>Project Scenario</a:t>
            </a:r>
            <a:endParaRPr lang="en-IN" sz="4800" dirty="0">
              <a:latin typeface="+mj-lt"/>
            </a:endParaRPr>
          </a:p>
        </p:txBody>
      </p:sp>
    </p:spTree>
    <p:extLst>
      <p:ext uri="{BB962C8B-B14F-4D97-AF65-F5344CB8AC3E}">
        <p14:creationId xmlns:p14="http://schemas.microsoft.com/office/powerpoint/2010/main" val="2093014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Overview</a:t>
            </a:r>
            <a:endParaRPr/>
          </a:p>
        </p:txBody>
      </p:sp>
      <p:sp>
        <p:nvSpPr>
          <p:cNvPr id="55" name="Google Shape;55;p10"/>
          <p:cNvSpPr txBox="1">
            <a:spLocks noGrp="1"/>
          </p:cNvSpPr>
          <p:nvPr>
            <p:ph type="body" idx="1"/>
          </p:nvPr>
        </p:nvSpPr>
        <p:spPr>
          <a:xfrm>
            <a:off x="233696" y="1624500"/>
            <a:ext cx="6390529" cy="5895000"/>
          </a:xfrm>
          <a:prstGeom prst="rect">
            <a:avLst/>
          </a:prstGeom>
        </p:spPr>
        <p:txBody>
          <a:bodyPr spcFirstLastPara="1" wrap="square" lIns="80669" tIns="80669" rIns="80669" bIns="80669" anchor="t" anchorCtr="0">
            <a:noAutofit/>
          </a:bodyPr>
          <a:lstStyle/>
          <a:p>
            <a:pPr marL="0" lvl="0" indent="0" algn="l" rtl="0">
              <a:spcBef>
                <a:spcPts val="1200"/>
              </a:spcBef>
              <a:spcAft>
                <a:spcPts val="0"/>
              </a:spcAft>
              <a:buNone/>
            </a:pPr>
            <a:r>
              <a:rPr lang="en-US" sz="1600" dirty="0"/>
              <a:t>As the lead security engineer for CryptoV4ult, a prominent international cryptocurrency platform, you're tasked with ensuring the security and integrity of our newly established infrastructure. With over 1 million users relying on our services, it's imperative that we maintain the highest standards of security to protect their digital assets.</a:t>
            </a:r>
          </a:p>
          <a:p>
            <a:pPr marL="0" lvl="0" indent="0" algn="l" rtl="0">
              <a:spcBef>
                <a:spcPts val="1200"/>
              </a:spcBef>
              <a:spcAft>
                <a:spcPts val="0"/>
              </a:spcAft>
              <a:buNone/>
            </a:pPr>
            <a:r>
              <a:rPr lang="en-US" sz="1600" dirty="0"/>
              <a:t>Your role involves a comprehensive review of the security landscape for our new application technology stack, identifying potential vulnerabilities, and running scans to assess any existing threats. Your scope encompasses various entities within our architecture, including the application itself, containerized services, and the external-facing API.</a:t>
            </a:r>
          </a:p>
          <a:p>
            <a:pPr marL="0" lvl="0" indent="0" algn="l" rtl="0">
              <a:spcBef>
                <a:spcPts val="1200"/>
              </a:spcBef>
              <a:spcAft>
                <a:spcPts val="1200"/>
              </a:spcAft>
              <a:buNone/>
            </a:pPr>
            <a:r>
              <a:rPr lang="en-US" sz="1600" dirty="0"/>
              <a:t>Ultimately, your objective is to develop a robust remediation plan that not only addresses current vulnerabilities but also strengthens our overall security posture, safeguarding both user data and the platform's reputation. This critical mission presents an exciting opportunity to leverage your skills and expertise in cybersecurity to fortify our infrastructure and uphold our commitment to providing a secure and reliable platform for our users. Let's embark on this journey together to ensure CryptoV4ult remains a trusted leader in the cryptocurrency industry!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Integrating SDLC</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12790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Transitioning to Secure SDLC</a:t>
            </a:r>
            <a:endParaRPr/>
          </a:p>
        </p:txBody>
      </p:sp>
      <p:sp>
        <p:nvSpPr>
          <p:cNvPr id="67" name="Google Shape;67;p12"/>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dirty="0"/>
              <a:t>As the lead security engineer at CryptoV4ult, you are tasked with ensuring the new infrastructure is developed securely. Your responsibility is to reorganize the existing development tasks to fit into a Secure Software Development Lifecycle (SDLC) framework, ensuring that each stage of the lifecycle incorporates necessary security tasks to protect user data and maintain the integrity of the cryptocurrency platform.</a:t>
            </a:r>
            <a:endParaRPr dirty="0"/>
          </a:p>
          <a:p>
            <a:pPr marL="0" indent="0">
              <a:buNone/>
            </a:pPr>
            <a:endParaRPr dirty="0"/>
          </a:p>
          <a:p>
            <a:pPr>
              <a:spcBef>
                <a:spcPts val="1059"/>
              </a:spcBef>
            </a:pPr>
            <a:r>
              <a:rPr lang="en" b="1" i="1" dirty="0">
                <a:latin typeface="Open Sans"/>
                <a:ea typeface="Open Sans"/>
                <a:cs typeface="Open Sans"/>
                <a:sym typeface="Open Sans"/>
              </a:rPr>
              <a:t>Reorganize the Waterfall</a:t>
            </a:r>
            <a:r>
              <a:rPr lang="en" i="1" dirty="0"/>
              <a:t> task list from the next slide </a:t>
            </a:r>
            <a:r>
              <a:rPr lang="en" b="1" i="1" dirty="0">
                <a:latin typeface="Open Sans"/>
                <a:ea typeface="Open Sans"/>
                <a:cs typeface="Open Sans"/>
                <a:sym typeface="Open Sans"/>
              </a:rPr>
              <a:t>into the Secure SDLC phases</a:t>
            </a:r>
            <a:endParaRPr b="1" i="1" dirty="0">
              <a:latin typeface="Open Sans"/>
              <a:ea typeface="Open Sans"/>
              <a:cs typeface="Open Sans"/>
              <a:sym typeface="Open Sans"/>
            </a:endParaRPr>
          </a:p>
          <a:p>
            <a:r>
              <a:rPr lang="en" b="1" i="1" dirty="0">
                <a:latin typeface="Open Sans"/>
                <a:ea typeface="Open Sans"/>
                <a:cs typeface="Open Sans"/>
                <a:sym typeface="Open Sans"/>
              </a:rPr>
              <a:t>Add at least one security related additional task</a:t>
            </a:r>
            <a:r>
              <a:rPr lang="en" i="1" dirty="0"/>
              <a:t> </a:t>
            </a:r>
            <a:r>
              <a:rPr lang="en" b="1" i="1" dirty="0">
                <a:latin typeface="Open Sans"/>
                <a:ea typeface="Open Sans"/>
                <a:cs typeface="Open Sans"/>
                <a:sym typeface="Open Sans"/>
              </a:rPr>
              <a:t>to each phase</a:t>
            </a:r>
            <a:endParaRPr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Transitioning to Secure SDLC</a:t>
            </a:r>
            <a:endParaRPr/>
          </a:p>
        </p:txBody>
      </p:sp>
      <p:sp>
        <p:nvSpPr>
          <p:cNvPr id="73" name="Google Shape;73;p13"/>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b="1" dirty="0">
                <a:latin typeface="Open Sans"/>
                <a:ea typeface="Open Sans"/>
                <a:cs typeface="Open Sans"/>
                <a:sym typeface="Open Sans"/>
              </a:rPr>
              <a:t>Place every task into a Secure SDLC category in the next few slides. Add at least one additional task to each phase that helps enhance security.</a:t>
            </a:r>
            <a:endParaRPr b="1" dirty="0">
              <a:latin typeface="Open Sans"/>
              <a:ea typeface="Open Sans"/>
              <a:cs typeface="Open Sans"/>
              <a:sym typeface="Open Sans"/>
            </a:endParaRPr>
          </a:p>
          <a:p>
            <a:pPr marL="0" indent="0">
              <a:buNone/>
            </a:pPr>
            <a:endParaRPr dirty="0"/>
          </a:p>
          <a:p>
            <a:pPr>
              <a:buAutoNum type="arabicPeriod"/>
            </a:pPr>
            <a:r>
              <a:rPr lang="en" dirty="0"/>
              <a:t>Conduct user interviews to gather functional requirements.</a:t>
            </a:r>
            <a:endParaRPr dirty="0"/>
          </a:p>
          <a:p>
            <a:pPr>
              <a:buAutoNum type="arabicPeriod"/>
            </a:pPr>
            <a:r>
              <a:rPr lang="en" dirty="0"/>
              <a:t>Write a requirements document for task management features.</a:t>
            </a:r>
            <a:endParaRPr dirty="0"/>
          </a:p>
          <a:p>
            <a:pPr>
              <a:buAutoNum type="arabicPeriod"/>
            </a:pPr>
            <a:r>
              <a:rPr lang="en" dirty="0"/>
              <a:t>Create a high-level architecture diagram for the application.</a:t>
            </a:r>
            <a:endParaRPr dirty="0"/>
          </a:p>
          <a:p>
            <a:pPr>
              <a:buAutoNum type="arabicPeriod"/>
            </a:pPr>
            <a:r>
              <a:rPr lang="en" dirty="0"/>
              <a:t>Design the database schema for tasks.</a:t>
            </a:r>
            <a:endParaRPr dirty="0"/>
          </a:p>
          <a:p>
            <a:pPr>
              <a:buAutoNum type="arabicPeriod"/>
            </a:pPr>
            <a:r>
              <a:rPr lang="en" dirty="0"/>
              <a:t>Code the user interface using HTML and CSS.</a:t>
            </a:r>
            <a:endParaRPr dirty="0"/>
          </a:p>
          <a:p>
            <a:pPr>
              <a:buAutoNum type="arabicPeriod"/>
            </a:pPr>
            <a:r>
              <a:rPr lang="en" dirty="0"/>
              <a:t>Implement interactive elements using JavaScript.</a:t>
            </a:r>
            <a:endParaRPr dirty="0"/>
          </a:p>
          <a:p>
            <a:pPr>
              <a:buAutoNum type="arabicPeriod"/>
            </a:pPr>
            <a:r>
              <a:rPr lang="en" dirty="0"/>
              <a:t>Set up a Flask application to handle API requests.</a:t>
            </a:r>
            <a:endParaRPr dirty="0"/>
          </a:p>
          <a:p>
            <a:pPr>
              <a:buAutoNum type="arabicPeriod"/>
            </a:pPr>
            <a:r>
              <a:rPr lang="en" dirty="0"/>
              <a:t>Implement CRUD operations for tasks.</a:t>
            </a:r>
            <a:endParaRPr dirty="0"/>
          </a:p>
          <a:p>
            <a:pPr>
              <a:buAutoNum type="arabicPeriod"/>
            </a:pPr>
            <a:r>
              <a:rPr lang="en" dirty="0"/>
              <a:t>Write and execute functional test cases.</a:t>
            </a:r>
            <a:endParaRPr dirty="0"/>
          </a:p>
          <a:p>
            <a:pPr>
              <a:buAutoNum type="arabicPeriod"/>
            </a:pPr>
            <a:r>
              <a:rPr lang="en" dirty="0"/>
              <a:t>Conduct browser compatibility testing.</a:t>
            </a:r>
            <a:endParaRPr dirty="0"/>
          </a:p>
          <a:p>
            <a:pPr>
              <a:buAutoNum type="arabicPeriod"/>
            </a:pPr>
            <a:r>
              <a:rPr lang="en" dirty="0"/>
              <a:t>Deploy the application to Heroku.</a:t>
            </a:r>
            <a:endParaRPr dirty="0"/>
          </a:p>
          <a:p>
            <a:pPr>
              <a:buAutoNum type="arabicPeriod"/>
            </a:pPr>
            <a:r>
              <a:rPr lang="en" dirty="0"/>
              <a:t>Perform smoke testing on the deployed application.</a:t>
            </a:r>
            <a:endParaRPr dirty="0"/>
          </a:p>
          <a:p>
            <a:pPr>
              <a:buAutoNum type="arabicPeriod"/>
            </a:pPr>
            <a:r>
              <a:rPr lang="en" dirty="0"/>
              <a:t>Monitor application logs and fix reported issues.</a:t>
            </a:r>
            <a:endParaRPr dirty="0"/>
          </a:p>
          <a:p>
            <a:pPr>
              <a:buAutoNum type="arabicPeriod"/>
            </a:pPr>
            <a:r>
              <a:rPr lang="en" dirty="0"/>
              <a:t>Gather user feedback for future feature additions.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Transitioning to Secure SDLC</a:t>
            </a:r>
            <a:endParaRPr lang="en-IN" dirty="0"/>
          </a:p>
        </p:txBody>
      </p:sp>
      <p:graphicFrame>
        <p:nvGraphicFramePr>
          <p:cNvPr id="7" name="Google Shape;79;p14">
            <a:extLst>
              <a:ext uri="{FF2B5EF4-FFF2-40B4-BE49-F238E27FC236}">
                <a16:creationId xmlns:a16="http://schemas.microsoft.com/office/drawing/2014/main" id="{B5528C7B-64FD-4510-9DCA-A7500E9F46CC}"/>
              </a:ext>
            </a:extLst>
          </p:cNvPr>
          <p:cNvGraphicFramePr/>
          <p:nvPr/>
        </p:nvGraphicFramePr>
        <p:xfrm>
          <a:off x="233736" y="2123073"/>
          <a:ext cx="6390529" cy="5865841"/>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dirty="0">
                          <a:solidFill>
                            <a:srgbClr val="525C65"/>
                          </a:solidFill>
                          <a:latin typeface="Open Sans"/>
                          <a:ea typeface="Open Sans"/>
                          <a:cs typeface="Open Sans"/>
                          <a:sym typeface="Open Sans"/>
                        </a:rPr>
                        <a:t>Requirements Analysis</a:t>
                      </a:r>
                      <a:endParaRPr sz="1600" b="1" dirty="0"/>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528206">
                <a:tc>
                  <a:txBody>
                    <a:bodyPr/>
                    <a:lstStyle/>
                    <a:p>
                      <a:pPr marL="0" lvl="0" indent="0" algn="l" rtl="0">
                        <a:spcBef>
                          <a:spcPts val="0"/>
                        </a:spcBef>
                        <a:spcAft>
                          <a:spcPts val="0"/>
                        </a:spcAft>
                        <a:buNone/>
                      </a:pPr>
                      <a:r>
                        <a:rPr lang="en" sz="1400" dirty="0">
                          <a:solidFill>
                            <a:srgbClr val="525C65"/>
                          </a:solidFill>
                          <a:latin typeface="Open Sans"/>
                          <a:ea typeface="Open Sans"/>
                          <a:cs typeface="Open Sans"/>
                          <a:sym typeface="Open Sans"/>
                        </a:rPr>
                        <a:t>[Write the tasks here]</a:t>
                      </a:r>
                      <a:endParaRPr sz="1400" dirty="0">
                        <a:solidFill>
                          <a:srgbClr val="525C65"/>
                        </a:solidFill>
                        <a:latin typeface="Open Sans"/>
                        <a:ea typeface="Open Sans"/>
                        <a:cs typeface="Open Sans"/>
                        <a:sym typeface="Open Sans"/>
                      </a:endParaRPr>
                    </a:p>
                    <a:p>
                      <a:pPr marL="0" lvl="0" indent="0" algn="l" rtl="0">
                        <a:lnSpc>
                          <a:spcPct val="115000"/>
                        </a:lnSpc>
                        <a:spcBef>
                          <a:spcPts val="1500"/>
                        </a:spcBef>
                        <a:spcAft>
                          <a:spcPts val="1500"/>
                        </a:spcAft>
                        <a:buNone/>
                      </a:pP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Design</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527279">
                <a:tc>
                  <a:txBody>
                    <a:bodyPr/>
                    <a:lstStyle/>
                    <a:p>
                      <a:pPr marL="0" lvl="0" indent="0" algn="l" rtl="0">
                        <a:spcBef>
                          <a:spcPts val="0"/>
                        </a:spcBef>
                        <a:spcAft>
                          <a:spcPts val="0"/>
                        </a:spcAft>
                        <a:buClr>
                          <a:srgbClr val="000000"/>
                        </a:buClr>
                        <a:buSzPts val="1100"/>
                        <a:buFont typeface="Arial"/>
                        <a:buNone/>
                      </a:pPr>
                      <a:r>
                        <a:rPr lang="en" sz="1400" dirty="0">
                          <a:solidFill>
                            <a:srgbClr val="525C65"/>
                          </a:solidFill>
                          <a:latin typeface="Open Sans"/>
                          <a:ea typeface="Open Sans"/>
                          <a:cs typeface="Open Sans"/>
                          <a:sym typeface="Open Sans"/>
                        </a:rPr>
                        <a:t>[Write the tasks here]</a:t>
                      </a:r>
                      <a:endParaRPr sz="1400" dirty="0">
                        <a:solidFill>
                          <a:srgbClr val="525C65"/>
                        </a:solidFill>
                        <a:latin typeface="Open Sans"/>
                        <a:ea typeface="Open Sans"/>
                        <a:cs typeface="Open Sans"/>
                        <a:sym typeface="Open Sans"/>
                      </a:endParaRPr>
                    </a:p>
                    <a:p>
                      <a:pPr marL="0" lvl="0" indent="0" algn="l" rtl="0">
                        <a:spcBef>
                          <a:spcPts val="0"/>
                        </a:spcBef>
                        <a:spcAft>
                          <a:spcPts val="0"/>
                        </a:spcAft>
                        <a:buNone/>
                      </a:pP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05006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Transitioning to Secure SDLC</a:t>
            </a:r>
            <a:endParaRPr lang="en-IN" dirty="0"/>
          </a:p>
        </p:txBody>
      </p:sp>
      <p:graphicFrame>
        <p:nvGraphicFramePr>
          <p:cNvPr id="4" name="Google Shape;85;p15">
            <a:extLst>
              <a:ext uri="{FF2B5EF4-FFF2-40B4-BE49-F238E27FC236}">
                <a16:creationId xmlns:a16="http://schemas.microsoft.com/office/drawing/2014/main" id="{9803D487-A2BA-4FA3-8D7C-A7E99EE129CB}"/>
              </a:ext>
            </a:extLst>
          </p:cNvPr>
          <p:cNvGraphicFramePr/>
          <p:nvPr/>
        </p:nvGraphicFramePr>
        <p:xfrm>
          <a:off x="233736" y="2123074"/>
          <a:ext cx="6390529" cy="585192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Development</a:t>
                      </a:r>
                      <a:endParaRPr sz="1600" b="1"/>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521235">
                <a:tc>
                  <a:txBody>
                    <a:bodyPr/>
                    <a:lstStyle/>
                    <a:p>
                      <a:pPr marL="0" lvl="0" indent="0" algn="l" rtl="0">
                        <a:spcBef>
                          <a:spcPts val="0"/>
                        </a:spcBef>
                        <a:spcAft>
                          <a:spcPts val="0"/>
                        </a:spcAft>
                        <a:buNone/>
                      </a:pPr>
                      <a:r>
                        <a:rPr lang="en" sz="1400">
                          <a:solidFill>
                            <a:srgbClr val="525C65"/>
                          </a:solidFill>
                          <a:latin typeface="Open Sans"/>
                          <a:ea typeface="Open Sans"/>
                          <a:cs typeface="Open Sans"/>
                          <a:sym typeface="Open Sans"/>
                        </a:rPr>
                        <a:t>[Write the tasks here]</a:t>
                      </a:r>
                      <a:endParaRPr sz="14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Testing</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520331">
                <a:tc>
                  <a:txBody>
                    <a:bodyPr/>
                    <a:lstStyle/>
                    <a:p>
                      <a:pPr marL="0" lvl="0" indent="0" algn="l" rtl="0">
                        <a:spcBef>
                          <a:spcPts val="0"/>
                        </a:spcBef>
                        <a:spcAft>
                          <a:spcPts val="0"/>
                        </a:spcAft>
                        <a:buClr>
                          <a:srgbClr val="000000"/>
                        </a:buClr>
                        <a:buSzPts val="1100"/>
                        <a:buFont typeface="Arial"/>
                        <a:buNone/>
                      </a:pPr>
                      <a:r>
                        <a:rPr lang="en" sz="1400" dirty="0">
                          <a:solidFill>
                            <a:srgbClr val="525C65"/>
                          </a:solidFill>
                          <a:latin typeface="Open Sans"/>
                          <a:ea typeface="Open Sans"/>
                          <a:cs typeface="Open Sans"/>
                          <a:sym typeface="Open Sans"/>
                        </a:rPr>
                        <a:t>[Write the tasks here]</a:t>
                      </a:r>
                      <a:endParaRPr sz="1400" dirty="0">
                        <a:solidFill>
                          <a:srgbClr val="525C65"/>
                        </a:solidFill>
                        <a:latin typeface="Open Sans"/>
                        <a:ea typeface="Open Sans"/>
                        <a:cs typeface="Open Sans"/>
                        <a:sym typeface="Open Sans"/>
                      </a:endParaRPr>
                    </a:p>
                    <a:p>
                      <a:pPr marL="0" marR="0" lvl="0" indent="0" algn="l" rtl="0">
                        <a:lnSpc>
                          <a:spcPct val="115000"/>
                        </a:lnSpc>
                        <a:spcBef>
                          <a:spcPts val="1500"/>
                        </a:spcBef>
                        <a:spcAft>
                          <a:spcPts val="0"/>
                        </a:spcAft>
                        <a:buNone/>
                      </a:pPr>
                      <a:endParaRPr sz="1400" dirty="0">
                        <a:solidFill>
                          <a:srgbClr val="525C65"/>
                        </a:solidFill>
                        <a:latin typeface="Open Sans"/>
                        <a:ea typeface="Open Sans"/>
                        <a:cs typeface="Open Sans"/>
                        <a:sym typeface="Open Sans"/>
                      </a:endParaRPr>
                    </a:p>
                    <a:p>
                      <a:pPr marL="0" lvl="0" indent="0" algn="l" rtl="0">
                        <a:spcBef>
                          <a:spcPts val="1500"/>
                        </a:spcBef>
                        <a:spcAft>
                          <a:spcPts val="0"/>
                        </a:spcAft>
                        <a:buNone/>
                      </a:pP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0487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3200"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Transitioning to Secure SDLC</a:t>
            </a:r>
            <a:endParaRPr lang="en-IN" dirty="0"/>
          </a:p>
        </p:txBody>
      </p:sp>
      <p:graphicFrame>
        <p:nvGraphicFramePr>
          <p:cNvPr id="5" name="Google Shape;91;p16">
            <a:extLst>
              <a:ext uri="{FF2B5EF4-FFF2-40B4-BE49-F238E27FC236}">
                <a16:creationId xmlns:a16="http://schemas.microsoft.com/office/drawing/2014/main" id="{7321D405-1717-403A-A43E-352BBDE1F7A0}"/>
              </a:ext>
            </a:extLst>
          </p:cNvPr>
          <p:cNvGraphicFramePr/>
          <p:nvPr/>
        </p:nvGraphicFramePr>
        <p:xfrm>
          <a:off x="233736" y="2123074"/>
          <a:ext cx="6390529" cy="5789187"/>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03385">
                <a:tc>
                  <a:txBody>
                    <a:bodyPr/>
                    <a:lstStyle/>
                    <a:p>
                      <a:pPr marL="0" lvl="0" indent="0" algn="l" rtl="0">
                        <a:spcBef>
                          <a:spcPts val="0"/>
                        </a:spcBef>
                        <a:spcAft>
                          <a:spcPts val="0"/>
                        </a:spcAft>
                        <a:buClr>
                          <a:schemeClr val="dk1"/>
                        </a:buClr>
                        <a:buSzPts val="1100"/>
                        <a:buFont typeface="Arial"/>
                        <a:buNone/>
                      </a:pPr>
                      <a:r>
                        <a:rPr lang="en" sz="1600" b="1">
                          <a:solidFill>
                            <a:srgbClr val="525C65"/>
                          </a:solidFill>
                          <a:latin typeface="Open Sans"/>
                          <a:ea typeface="Open Sans"/>
                          <a:cs typeface="Open Sans"/>
                          <a:sym typeface="Open Sans"/>
                        </a:rPr>
                        <a:t>Deployment</a:t>
                      </a:r>
                      <a:endParaRPr sz="1600" b="1"/>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489868">
                <a:tc>
                  <a:txBody>
                    <a:bodyPr/>
                    <a:lstStyle/>
                    <a:p>
                      <a:pPr marL="0" lvl="0" indent="0" algn="l" rtl="0">
                        <a:spcBef>
                          <a:spcPts val="0"/>
                        </a:spcBef>
                        <a:spcAft>
                          <a:spcPts val="0"/>
                        </a:spcAft>
                        <a:buNone/>
                      </a:pPr>
                      <a:r>
                        <a:rPr lang="en" sz="1400">
                          <a:solidFill>
                            <a:srgbClr val="525C65"/>
                          </a:solidFill>
                          <a:latin typeface="Open Sans"/>
                          <a:ea typeface="Open Sans"/>
                          <a:cs typeface="Open Sans"/>
                          <a:sym typeface="Open Sans"/>
                        </a:rPr>
                        <a:t>[Write the tasks here]</a:t>
                      </a:r>
                      <a:endParaRPr sz="14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03385">
                <a:tc>
                  <a:txBody>
                    <a:bodyPr/>
                    <a:lstStyle/>
                    <a:p>
                      <a:pPr marL="0" lvl="0" indent="0" algn="l" rtl="0">
                        <a:spcBef>
                          <a:spcPts val="0"/>
                        </a:spcBef>
                        <a:spcAft>
                          <a:spcPts val="0"/>
                        </a:spcAft>
                        <a:buNone/>
                      </a:pPr>
                      <a:r>
                        <a:rPr lang="en" sz="1600" b="1">
                          <a:solidFill>
                            <a:srgbClr val="525C65"/>
                          </a:solidFill>
                          <a:latin typeface="Open Sans"/>
                          <a:ea typeface="Open Sans"/>
                          <a:cs typeface="Open Sans"/>
                          <a:sym typeface="Open Sans"/>
                        </a:rPr>
                        <a:t>Maintenance</a:t>
                      </a:r>
                      <a:endParaRPr sz="1600" b="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488963">
                <a:tc>
                  <a:txBody>
                    <a:bodyPr/>
                    <a:lstStyle/>
                    <a:p>
                      <a:pPr marL="0" lvl="0" indent="0" algn="l" rtl="0">
                        <a:spcBef>
                          <a:spcPts val="0"/>
                        </a:spcBef>
                        <a:spcAft>
                          <a:spcPts val="0"/>
                        </a:spcAft>
                        <a:buClr>
                          <a:srgbClr val="000000"/>
                        </a:buClr>
                        <a:buSzPts val="1100"/>
                        <a:buFont typeface="Arial"/>
                        <a:buNone/>
                      </a:pPr>
                      <a:r>
                        <a:rPr lang="en" sz="1400" dirty="0">
                          <a:solidFill>
                            <a:srgbClr val="525C65"/>
                          </a:solidFill>
                          <a:latin typeface="Open Sans"/>
                          <a:ea typeface="Open Sans"/>
                          <a:cs typeface="Open Sans"/>
                          <a:sym typeface="Open Sans"/>
                        </a:rPr>
                        <a:t>[Write the tasks here]</a:t>
                      </a:r>
                      <a:endParaRPr sz="14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4294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Advocating for Secure</a:t>
            </a:r>
            <a:r>
              <a:rPr lang="en" sz="3177" b="1">
                <a:latin typeface="Open Sans"/>
                <a:ea typeface="Open Sans"/>
                <a:cs typeface="Open Sans"/>
                <a:sym typeface="Open Sans"/>
              </a:rPr>
              <a:t> </a:t>
            </a:r>
            <a:r>
              <a:rPr lang="en"/>
              <a:t>SDLC</a:t>
            </a:r>
            <a:endParaRPr/>
          </a:p>
        </p:txBody>
      </p:sp>
      <p:sp>
        <p:nvSpPr>
          <p:cNvPr id="97" name="Google Shape;97;p17"/>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dirty="0"/>
              <a:t>As the lead security engineer at CryptoV4ult, you're spearheading the shift towards a more secure and agile development process. To get everyone on board, create a succinct list highlighting five essential advantages of transitioning to the Secure Software Development Lifecycle (SDLC) from our current Waterfall methodology. </a:t>
            </a:r>
            <a:r>
              <a:rPr lang="en" b="1" dirty="0">
                <a:latin typeface="Open Sans"/>
                <a:ea typeface="Open Sans"/>
                <a:cs typeface="Open Sans"/>
                <a:sym typeface="Open Sans"/>
              </a:rPr>
              <a:t>For each advantage, include a brief explanation</a:t>
            </a:r>
            <a:r>
              <a:rPr lang="en" dirty="0"/>
              <a:t> that underscores its importance, particularly focusing on how it benefits the dynamic and security-centric nature of our cryptocurrency platform.</a:t>
            </a:r>
            <a:endParaRPr dirty="0"/>
          </a:p>
          <a:p>
            <a:pPr marL="0" indent="0">
              <a:buNone/>
            </a:pPr>
            <a:endParaRPr dirty="0"/>
          </a:p>
          <a:p>
            <a:r>
              <a:rPr lang="en" i="1" dirty="0"/>
              <a:t>Write your answers on the next slide!</a:t>
            </a:r>
            <a:endParaRPr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Advocating for Secure SDLC</a:t>
            </a:r>
            <a:endParaRPr lang="en-IN" dirty="0"/>
          </a:p>
        </p:txBody>
      </p:sp>
      <p:graphicFrame>
        <p:nvGraphicFramePr>
          <p:cNvPr id="4" name="Google Shape;103;p18">
            <a:extLst>
              <a:ext uri="{FF2B5EF4-FFF2-40B4-BE49-F238E27FC236}">
                <a16:creationId xmlns:a16="http://schemas.microsoft.com/office/drawing/2014/main" id="{5AEB9920-5102-4DDC-B3C2-AFDB2E1B84D4}"/>
              </a:ext>
            </a:extLst>
          </p:cNvPr>
          <p:cNvGraphicFramePr/>
          <p:nvPr/>
        </p:nvGraphicFramePr>
        <p:xfrm>
          <a:off x="233736" y="2123074"/>
          <a:ext cx="6390529" cy="5984012"/>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22211">
                <a:tc>
                  <a:txBody>
                    <a:bodyPr/>
                    <a:lstStyle/>
                    <a:p>
                      <a:pPr marL="0" lvl="0" indent="0" algn="l" rtl="0">
                        <a:lnSpc>
                          <a:spcPct val="115000"/>
                        </a:lnSpc>
                        <a:spcBef>
                          <a:spcPts val="0"/>
                        </a:spcBef>
                        <a:spcAft>
                          <a:spcPts val="0"/>
                        </a:spcAft>
                        <a:buNone/>
                      </a:pPr>
                      <a:r>
                        <a:rPr lang="en" sz="1600" dirty="0">
                          <a:solidFill>
                            <a:srgbClr val="525C65"/>
                          </a:solidFill>
                          <a:latin typeface="Open Sans"/>
                          <a:ea typeface="Open Sans"/>
                          <a:cs typeface="Open Sans"/>
                          <a:sym typeface="Open Sans"/>
                        </a:rPr>
                        <a:t>1. [Benefit]</a:t>
                      </a:r>
                      <a:endParaRPr sz="1600" dirty="0">
                        <a:solidFill>
                          <a:srgbClr val="525C65"/>
                        </a:solidFill>
                        <a:latin typeface="Open Sans"/>
                        <a:ea typeface="Open Sans"/>
                        <a:cs typeface="Open Sans"/>
                        <a:sym typeface="Open Sans"/>
                      </a:endParaRPr>
                    </a:p>
                  </a:txBody>
                  <a:tcPr marL="80669" marR="80669" marT="80669" marB="80669"/>
                </a:tc>
                <a:extLst>
                  <a:ext uri="{0D108BD9-81ED-4DB2-BD59-A6C34878D82A}">
                    <a16:rowId xmlns:a16="http://schemas.microsoft.com/office/drawing/2014/main" val="10000"/>
                  </a:ext>
                </a:extLst>
              </a:tr>
              <a:tr h="794647">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[1-2 sentence description]</a:t>
                      </a:r>
                      <a:endParaRPr sz="1600" i="1" dirty="0">
                        <a:solidFill>
                          <a:srgbClr val="525C65"/>
                        </a:solidFill>
                        <a:latin typeface="Open Sans Light"/>
                        <a:ea typeface="Open Sans Light"/>
                        <a:cs typeface="Open Sans Light"/>
                        <a:sym typeface="Open Sans Light"/>
                      </a:endParaRPr>
                    </a:p>
                  </a:txBody>
                  <a:tcPr marL="80669" marR="80669" marT="80669" marB="80669">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22211">
                <a:tc>
                  <a:txBody>
                    <a:bodyPr/>
                    <a:lstStyle/>
                    <a:p>
                      <a:pPr marL="0" lvl="0" indent="0" algn="l" rtl="0">
                        <a:lnSpc>
                          <a:spcPct val="115000"/>
                        </a:lnSpc>
                        <a:spcBef>
                          <a:spcPts val="0"/>
                        </a:spcBef>
                        <a:spcAft>
                          <a:spcPts val="0"/>
                        </a:spcAft>
                        <a:buNone/>
                      </a:pPr>
                      <a:r>
                        <a:rPr lang="en" sz="1600">
                          <a:solidFill>
                            <a:srgbClr val="525C65"/>
                          </a:solidFill>
                          <a:latin typeface="Open Sans"/>
                          <a:ea typeface="Open Sans"/>
                          <a:cs typeface="Open Sans"/>
                          <a:sym typeface="Open Sans"/>
                        </a:rPr>
                        <a:t>2. [Benefit]</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803537">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[1-2 sentence 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22211">
                <a:tc>
                  <a:txBody>
                    <a:bodyPr/>
                    <a:lstStyle/>
                    <a:p>
                      <a:pPr marL="0" lvl="0" indent="0" algn="l" rtl="0">
                        <a:lnSpc>
                          <a:spcPct val="115000"/>
                        </a:lnSpc>
                        <a:spcBef>
                          <a:spcPts val="0"/>
                        </a:spcBef>
                        <a:spcAft>
                          <a:spcPts val="0"/>
                        </a:spcAft>
                        <a:buNone/>
                      </a:pPr>
                      <a:r>
                        <a:rPr lang="en" sz="1600">
                          <a:solidFill>
                            <a:srgbClr val="525C65"/>
                          </a:solidFill>
                          <a:latin typeface="Open Sans"/>
                          <a:ea typeface="Open Sans"/>
                          <a:cs typeface="Open Sans"/>
                          <a:sym typeface="Open Sans"/>
                        </a:rPr>
                        <a:t>3. [Benefit]</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821338">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[1-2 sentence 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22211">
                <a:tc>
                  <a:txBody>
                    <a:bodyPr/>
                    <a:lstStyle/>
                    <a:p>
                      <a:pPr marL="0" lvl="0" indent="0" algn="l" rtl="0">
                        <a:lnSpc>
                          <a:spcPct val="115000"/>
                        </a:lnSpc>
                        <a:spcBef>
                          <a:spcPts val="0"/>
                        </a:spcBef>
                        <a:spcAft>
                          <a:spcPts val="0"/>
                        </a:spcAft>
                        <a:buNone/>
                      </a:pPr>
                      <a:r>
                        <a:rPr lang="en" sz="1600">
                          <a:solidFill>
                            <a:srgbClr val="525C65"/>
                          </a:solidFill>
                          <a:latin typeface="Open Sans"/>
                          <a:ea typeface="Open Sans"/>
                          <a:cs typeface="Open Sans"/>
                          <a:sym typeface="Open Sans"/>
                        </a:rPr>
                        <a:t>4. [Benefit]</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794647">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[1-2 sentence 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22211">
                <a:tc>
                  <a:txBody>
                    <a:bodyPr/>
                    <a:lstStyle/>
                    <a:p>
                      <a:pPr marL="0" lvl="0" indent="0" algn="l" rtl="0">
                        <a:lnSpc>
                          <a:spcPct val="115000"/>
                        </a:lnSpc>
                        <a:spcBef>
                          <a:spcPts val="0"/>
                        </a:spcBef>
                        <a:spcAft>
                          <a:spcPts val="0"/>
                        </a:spcAft>
                        <a:buNone/>
                      </a:pPr>
                      <a:r>
                        <a:rPr lang="en" sz="1600">
                          <a:solidFill>
                            <a:srgbClr val="525C65"/>
                          </a:solidFill>
                          <a:latin typeface="Open Sans"/>
                          <a:ea typeface="Open Sans"/>
                          <a:cs typeface="Open Sans"/>
                          <a:sym typeface="Open Sans"/>
                        </a:rPr>
                        <a:t>5. [Benefit]</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645432">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[1-2 sentence description]</a:t>
                      </a:r>
                      <a:endParaRPr sz="1600" i="1" dirty="0">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90749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3200" dirty="0">
                <a:solidFill>
                  <a:srgbClr val="FFFFFF"/>
                </a:solidFill>
                <a:latin typeface="Corbel" panose="020B0503020204020204"/>
              </a:rPr>
              <a:t>Vulnerabilities and Remediation</a:t>
            </a:r>
            <a:endPar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467847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Vulnerabilities and remediation</a:t>
            </a:r>
            <a:endParaRPr/>
          </a:p>
        </p:txBody>
      </p:sp>
      <p:sp>
        <p:nvSpPr>
          <p:cNvPr id="115" name="Google Shape;115;p20"/>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As CryptoV4ult enhances its infrastructure to support new features for its extensive user base, ensuring the security of user authentication mechanisms is paramount. The</a:t>
            </a:r>
            <a:r>
              <a:rPr lang="en" b="1" dirty="0">
                <a:latin typeface="Open Sans"/>
                <a:ea typeface="Open Sans"/>
                <a:cs typeface="Open Sans"/>
                <a:sym typeface="Open Sans"/>
              </a:rPr>
              <a:t> login system</a:t>
            </a:r>
            <a:r>
              <a:rPr lang="en" dirty="0"/>
              <a:t> is critical to the platform's security, acting as the first line of defense against unauthorized access. Your task is to scrutinize a login system, </a:t>
            </a:r>
            <a:r>
              <a:rPr lang="en" b="1" dirty="0">
                <a:latin typeface="Open Sans"/>
                <a:ea typeface="Open Sans"/>
                <a:cs typeface="Open Sans"/>
                <a:sym typeface="Open Sans"/>
              </a:rPr>
              <a:t>identify 3 potential vulnerabilities</a:t>
            </a:r>
            <a:r>
              <a:rPr lang="en" dirty="0"/>
              <a:t> they usually have, and propose effective remediation strategies.</a:t>
            </a:r>
            <a:endParaRPr dirty="0"/>
          </a:p>
          <a:p>
            <a:pPr>
              <a:spcBef>
                <a:spcPts val="1059"/>
              </a:spcBef>
            </a:pPr>
            <a:r>
              <a:rPr lang="en" i="1" dirty="0"/>
              <a:t>Concentrate on </a:t>
            </a:r>
            <a:r>
              <a:rPr lang="en" b="1" i="1" dirty="0">
                <a:latin typeface="Open Sans"/>
                <a:ea typeface="Open Sans"/>
                <a:cs typeface="Open Sans"/>
                <a:sym typeface="Open Sans"/>
              </a:rPr>
              <a:t>login systems in general</a:t>
            </a:r>
            <a:endParaRPr b="1" i="1" dirty="0">
              <a:latin typeface="Open Sans"/>
              <a:ea typeface="Open Sans"/>
              <a:cs typeface="Open Sans"/>
              <a:sym typeface="Open Sans"/>
            </a:endParaRPr>
          </a:p>
          <a:p>
            <a:r>
              <a:rPr lang="en" i="1" dirty="0"/>
              <a:t>The vulnerability can relate to any aspect of a login system, including user identification, authentication mechanisms, and session management</a:t>
            </a:r>
            <a:endParaRPr i="1" dirty="0"/>
          </a:p>
          <a:p>
            <a:r>
              <a:rPr lang="en" i="1" dirty="0"/>
              <a:t>Any common login system vulnerability is acceptable</a:t>
            </a:r>
            <a:endParaRPr i="1" dirty="0"/>
          </a:p>
          <a:p>
            <a:r>
              <a:rPr lang="en" b="1" i="1" dirty="0">
                <a:latin typeface="Open Sans"/>
                <a:ea typeface="Open Sans"/>
                <a:cs typeface="Open Sans"/>
                <a:sym typeface="Open Sans"/>
              </a:rPr>
              <a:t>For each identified potential vulnerability</a:t>
            </a:r>
            <a:r>
              <a:rPr lang="en" i="1" dirty="0"/>
              <a:t>, you need to:</a:t>
            </a:r>
            <a:endParaRPr i="1" dirty="0"/>
          </a:p>
          <a:p>
            <a:pPr lvl="1">
              <a:spcBef>
                <a:spcPts val="0"/>
              </a:spcBef>
              <a:buFont typeface="Open Sans"/>
              <a:buChar char="○"/>
            </a:pPr>
            <a:r>
              <a:rPr lang="en" b="1" i="1" dirty="0">
                <a:latin typeface="Open Sans"/>
                <a:ea typeface="Open Sans"/>
                <a:cs typeface="Open Sans"/>
                <a:sym typeface="Open Sans"/>
              </a:rPr>
              <a:t>Describe the vulnerability</a:t>
            </a:r>
            <a:endParaRPr b="1" i="1" dirty="0">
              <a:latin typeface="Open Sans"/>
              <a:ea typeface="Open Sans"/>
              <a:cs typeface="Open Sans"/>
              <a:sym typeface="Open Sans"/>
            </a:endParaRPr>
          </a:p>
          <a:p>
            <a:pPr lvl="1">
              <a:spcBef>
                <a:spcPts val="0"/>
              </a:spcBef>
              <a:buFont typeface="Open Sans"/>
              <a:buChar char="○"/>
            </a:pPr>
            <a:r>
              <a:rPr lang="en" b="1" i="1" dirty="0">
                <a:latin typeface="Open Sans"/>
                <a:ea typeface="Open Sans"/>
                <a:cs typeface="Open Sans"/>
                <a:sym typeface="Open Sans"/>
              </a:rPr>
              <a:t>Explain the risk</a:t>
            </a:r>
            <a:endParaRPr b="1" i="1" dirty="0">
              <a:latin typeface="Open Sans"/>
              <a:ea typeface="Open Sans"/>
              <a:cs typeface="Open Sans"/>
              <a:sym typeface="Open Sans"/>
            </a:endParaRPr>
          </a:p>
          <a:p>
            <a:pPr lvl="1">
              <a:spcBef>
                <a:spcPts val="0"/>
              </a:spcBef>
              <a:buFont typeface="Open Sans"/>
              <a:buChar char="○"/>
            </a:pPr>
            <a:r>
              <a:rPr lang="en" b="1" i="1" dirty="0">
                <a:latin typeface="Open Sans"/>
                <a:ea typeface="Open Sans"/>
                <a:cs typeface="Open Sans"/>
                <a:sym typeface="Open Sans"/>
              </a:rPr>
              <a:t>Provide remediation strategy</a:t>
            </a:r>
            <a:endParaRPr b="1" i="1" dirty="0">
              <a:latin typeface="Open Sans"/>
              <a:ea typeface="Open Sans"/>
              <a:cs typeface="Open Sans"/>
              <a:sym typeface="Open Sans"/>
            </a:endParaRPr>
          </a:p>
          <a:p>
            <a:pPr indent="0">
              <a:spcBef>
                <a:spcPts val="1059"/>
              </a:spcBef>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1.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[What specific weakness does this vulnerability represent? How does it work?]</a:t>
                      </a:r>
                      <a:endParaRPr sz="1600" i="1" dirty="0">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attackers use this flaw, and what harm could it do?]</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0841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extLst>
              <p:ext uri="{D42A27DB-BD31-4B8C-83A1-F6EECF244321}">
                <p14:modId xmlns:p14="http://schemas.microsoft.com/office/powerpoint/2010/main" val="3170677179"/>
              </p:ext>
            </p:extLst>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2.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[What specific weakness does this vulnerability represent? How does it work?]</a:t>
                      </a:r>
                      <a:endParaRPr sz="1600" i="1">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[How can attackers use this flaw, and what harm could it do?]</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364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extLst>
              <p:ext uri="{D42A27DB-BD31-4B8C-83A1-F6EECF244321}">
                <p14:modId xmlns:p14="http://schemas.microsoft.com/office/powerpoint/2010/main" val="507629813"/>
              </p:ext>
            </p:extLst>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3.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[What specific weakness does this vulnerability represent? How does it work?]</a:t>
                      </a:r>
                      <a:endParaRPr sz="1600" i="1">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[How can attackers use this flaw, and what harm could it do?]</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41463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Create a threat Matrix</a:t>
            </a:r>
            <a:endParaRPr/>
          </a:p>
        </p:txBody>
      </p:sp>
      <p:sp>
        <p:nvSpPr>
          <p:cNvPr id="139" name="Google Shape;139;p24"/>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buNone/>
            </a:pPr>
            <a:r>
              <a:rPr lang="en" b="1">
                <a:latin typeface="Open Sans"/>
                <a:ea typeface="Open Sans"/>
                <a:cs typeface="Open Sans"/>
                <a:sym typeface="Open Sans"/>
              </a:rPr>
              <a:t>Dissect and categorize the 3 vulnerabilities that you have identified for the login system. Understanding these vulnerabilities from a strategic viewpoint will enable the company to allocate resources efficiently, prioritize remediation efforts, and maintain CryptoV4ult's reputation as a secure and reliable platform.</a:t>
            </a:r>
            <a:endParaRPr b="1">
              <a:latin typeface="Open Sans"/>
              <a:ea typeface="Open Sans"/>
              <a:cs typeface="Open Sans"/>
              <a:sym typeface="Open Sans"/>
            </a:endParaRPr>
          </a:p>
          <a:p>
            <a:pPr marL="0" indent="0">
              <a:buNone/>
            </a:pPr>
            <a:endParaRPr b="1">
              <a:latin typeface="Open Sans"/>
              <a:ea typeface="Open Sans"/>
              <a:cs typeface="Open Sans"/>
              <a:sym typeface="Open Sans"/>
            </a:endParaRPr>
          </a:p>
          <a:p>
            <a:r>
              <a:rPr lang="en" i="1"/>
              <a:t>For each identified vulnerability, critically assess its potential to disrupt CryptoV4ult's operational functionality, erode customer trust, and impact financial stability. </a:t>
            </a:r>
            <a:r>
              <a:rPr lang="en" b="1" i="1">
                <a:latin typeface="Open Sans"/>
                <a:ea typeface="Open Sans"/>
                <a:cs typeface="Open Sans"/>
                <a:sym typeface="Open Sans"/>
              </a:rPr>
              <a:t>Assign an impact level of 'Low', 'Medium', or 'High' </a:t>
            </a:r>
            <a:r>
              <a:rPr lang="en" i="1"/>
              <a:t>based on the evaluated potential consequences.</a:t>
            </a:r>
            <a:endParaRPr i="1"/>
          </a:p>
          <a:p>
            <a:r>
              <a:rPr lang="en" i="1"/>
              <a:t>Analyze the complexity and feasibility of exploiting each identified vulnerability. Consider the sophistication required for exploitation and the accessibility of the vulnerability to potential attackers. </a:t>
            </a:r>
            <a:r>
              <a:rPr lang="en" b="1" i="1">
                <a:latin typeface="Open Sans"/>
                <a:ea typeface="Open Sans"/>
                <a:cs typeface="Open Sans"/>
                <a:sym typeface="Open Sans"/>
              </a:rPr>
              <a:t>Rate the likelihood of exploitation as 'Low', 'Medium', or 'High'</a:t>
            </a:r>
            <a:r>
              <a:rPr lang="en" i="1"/>
              <a:t>.</a:t>
            </a:r>
            <a:endParaRPr i="1"/>
          </a:p>
          <a:p>
            <a:r>
              <a:rPr lang="en" i="1"/>
              <a:t>Utilize the provided risk matrix framework to </a:t>
            </a:r>
            <a:r>
              <a:rPr lang="en" b="1" i="1">
                <a:latin typeface="Open Sans"/>
                <a:ea typeface="Open Sans"/>
                <a:cs typeface="Open Sans"/>
                <a:sym typeface="Open Sans"/>
              </a:rPr>
              <a:t>map out the vulnerabilities</a:t>
            </a:r>
            <a:r>
              <a:rPr lang="en" i="1"/>
              <a:t> according to your assessments of their impact and exploit likelihood. </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Threat Matrix</a:t>
            </a:r>
            <a:endParaRPr lang="en-IN" dirty="0"/>
          </a:p>
        </p:txBody>
      </p:sp>
      <p:graphicFrame>
        <p:nvGraphicFramePr>
          <p:cNvPr id="5" name="Google Shape;146;p25">
            <a:extLst>
              <a:ext uri="{FF2B5EF4-FFF2-40B4-BE49-F238E27FC236}">
                <a16:creationId xmlns:a16="http://schemas.microsoft.com/office/drawing/2014/main" id="{03EE5AEE-0C06-45D8-85DD-F2729D4F9D13}"/>
              </a:ext>
            </a:extLst>
          </p:cNvPr>
          <p:cNvGraphicFramePr/>
          <p:nvPr/>
        </p:nvGraphicFramePr>
        <p:xfrm>
          <a:off x="169346" y="1832713"/>
          <a:ext cx="6390528" cy="1775074"/>
        </p:xfrm>
        <a:graphic>
          <a:graphicData uri="http://schemas.openxmlformats.org/drawingml/2006/table">
            <a:tbl>
              <a:tblPr>
                <a:noFill/>
              </a:tblPr>
              <a:tblGrid>
                <a:gridCol w="2316926">
                  <a:extLst>
                    <a:ext uri="{9D8B030D-6E8A-4147-A177-3AD203B41FA5}">
                      <a16:colId xmlns:a16="http://schemas.microsoft.com/office/drawing/2014/main" val="20000"/>
                    </a:ext>
                  </a:extLst>
                </a:gridCol>
                <a:gridCol w="1943426">
                  <a:extLst>
                    <a:ext uri="{9D8B030D-6E8A-4147-A177-3AD203B41FA5}">
                      <a16:colId xmlns:a16="http://schemas.microsoft.com/office/drawing/2014/main" val="20001"/>
                    </a:ext>
                  </a:extLst>
                </a:gridCol>
                <a:gridCol w="2130176">
                  <a:extLst>
                    <a:ext uri="{9D8B030D-6E8A-4147-A177-3AD203B41FA5}">
                      <a16:colId xmlns:a16="http://schemas.microsoft.com/office/drawing/2014/main" val="20002"/>
                    </a:ext>
                  </a:extLst>
                </a:gridCol>
              </a:tblGrid>
              <a:tr h="667147">
                <a:tc>
                  <a:txBody>
                    <a:bodyPr/>
                    <a:lstStyle/>
                    <a:p>
                      <a:pPr marL="0" lvl="0" indent="0" algn="ctr" rtl="0">
                        <a:spcBef>
                          <a:spcPts val="0"/>
                        </a:spcBef>
                        <a:spcAft>
                          <a:spcPts val="0"/>
                        </a:spcAft>
                        <a:buNone/>
                      </a:pPr>
                      <a:r>
                        <a:rPr lang="en" sz="1600" b="1">
                          <a:solidFill>
                            <a:schemeClr val="dk1"/>
                          </a:solidFill>
                          <a:latin typeface="Open Sans"/>
                          <a:ea typeface="Open Sans"/>
                          <a:cs typeface="Open Sans"/>
                          <a:sym typeface="Open Sans"/>
                        </a:rPr>
                        <a:t>Pathway (Vulnerability)</a:t>
                      </a:r>
                      <a:endParaRPr sz="1600" b="1">
                        <a:solidFill>
                          <a:schemeClr val="dk1"/>
                        </a:solidFill>
                        <a:latin typeface="Open Sans"/>
                        <a:ea typeface="Open Sans"/>
                        <a:cs typeface="Open Sans"/>
                        <a:sym typeface="Open Sans"/>
                      </a:endParaRPr>
                    </a:p>
                  </a:txBody>
                  <a:tcPr marL="80669" marR="80669" marT="80669" marB="80669"/>
                </a:tc>
                <a:tc>
                  <a:txBody>
                    <a:bodyPr/>
                    <a:lstStyle/>
                    <a:p>
                      <a:pPr marL="0" lvl="0" indent="0" algn="ctr" rtl="0">
                        <a:spcBef>
                          <a:spcPts val="0"/>
                        </a:spcBef>
                        <a:spcAft>
                          <a:spcPts val="0"/>
                        </a:spcAft>
                        <a:buNone/>
                      </a:pPr>
                      <a:r>
                        <a:rPr lang="en" sz="1600" b="1">
                          <a:solidFill>
                            <a:schemeClr val="dk1"/>
                          </a:solidFill>
                          <a:latin typeface="Open Sans"/>
                          <a:ea typeface="Open Sans"/>
                          <a:cs typeface="Open Sans"/>
                          <a:sym typeface="Open Sans"/>
                        </a:rPr>
                        <a:t>Impact Level</a:t>
                      </a:r>
                      <a:endParaRPr sz="1600" b="1">
                        <a:solidFill>
                          <a:schemeClr val="dk1"/>
                        </a:solidFill>
                        <a:latin typeface="Open Sans"/>
                        <a:ea typeface="Open Sans"/>
                        <a:cs typeface="Open Sans"/>
                        <a:sym typeface="Open Sans"/>
                      </a:endParaRPr>
                    </a:p>
                  </a:txBody>
                  <a:tcPr marL="80669" marR="80669" marT="80669" marB="80669"/>
                </a:tc>
                <a:tc>
                  <a:txBody>
                    <a:bodyPr/>
                    <a:lstStyle/>
                    <a:p>
                      <a:pPr marL="0" lvl="0" indent="0" algn="ctr" rtl="0">
                        <a:spcBef>
                          <a:spcPts val="0"/>
                        </a:spcBef>
                        <a:spcAft>
                          <a:spcPts val="0"/>
                        </a:spcAft>
                        <a:buNone/>
                      </a:pPr>
                      <a:r>
                        <a:rPr lang="en" sz="1600" b="1" dirty="0">
                          <a:solidFill>
                            <a:schemeClr val="dk1"/>
                          </a:solidFill>
                          <a:latin typeface="Open Sans"/>
                          <a:ea typeface="Open Sans"/>
                          <a:cs typeface="Open Sans"/>
                          <a:sym typeface="Open Sans"/>
                        </a:rPr>
                        <a:t>Likelihood Level</a:t>
                      </a:r>
                      <a:endParaRPr sz="1600" b="1" dirty="0">
                        <a:solidFill>
                          <a:schemeClr val="dk1"/>
                        </a:solidFill>
                        <a:latin typeface="Open Sans"/>
                        <a:ea typeface="Open Sans"/>
                        <a:cs typeface="Open Sans"/>
                        <a:sym typeface="Open Sans"/>
                      </a:endParaRPr>
                    </a:p>
                  </a:txBody>
                  <a:tcPr marL="80669" marR="80669" marT="80669" marB="80669"/>
                </a:tc>
                <a:extLst>
                  <a:ext uri="{0D108BD9-81ED-4DB2-BD59-A6C34878D82A}">
                    <a16:rowId xmlns:a16="http://schemas.microsoft.com/office/drawing/2014/main" val="10000"/>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1"/>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2"/>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3"/>
                  </a:ext>
                </a:extLst>
              </a:tr>
            </a:tbl>
          </a:graphicData>
        </a:graphic>
      </p:graphicFrame>
      <p:sp>
        <p:nvSpPr>
          <p:cNvPr id="6" name="Google Shape;147;p25">
            <a:extLst>
              <a:ext uri="{FF2B5EF4-FFF2-40B4-BE49-F238E27FC236}">
                <a16:creationId xmlns:a16="http://schemas.microsoft.com/office/drawing/2014/main" id="{EEEA1358-39C2-449F-8AC7-DE074B9F753D}"/>
              </a:ext>
            </a:extLst>
          </p:cNvPr>
          <p:cNvSpPr txBox="1"/>
          <p:nvPr/>
        </p:nvSpPr>
        <p:spPr>
          <a:xfrm>
            <a:off x="201618" y="3753596"/>
            <a:ext cx="6454853" cy="662666"/>
          </a:xfrm>
          <a:prstGeom prst="rect">
            <a:avLst/>
          </a:prstGeom>
          <a:noFill/>
          <a:ln>
            <a:noFill/>
          </a:ln>
        </p:spPr>
        <p:txBody>
          <a:bodyPr spcFirstLastPara="1" wrap="square" lIns="80669" tIns="80669" rIns="80669" bIns="80669" anchor="t" anchorCtr="0">
            <a:spAutoFit/>
          </a:bodyPr>
          <a:lstStyle/>
          <a:p>
            <a:pPr defTabSz="806867">
              <a:lnSpc>
                <a:spcPct val="115000"/>
              </a:lnSpc>
              <a:buClr>
                <a:srgbClr val="000000"/>
              </a:buClr>
            </a:pPr>
            <a:r>
              <a:rPr lang="en" sz="1412" i="1" kern="0" dirty="0">
                <a:solidFill>
                  <a:srgbClr val="525C65"/>
                </a:solidFill>
                <a:latin typeface="Open Sans Light"/>
                <a:ea typeface="Open Sans Light"/>
                <a:cs typeface="Open Sans Light"/>
                <a:sym typeface="Open Sans Light"/>
              </a:rPr>
              <a:t>Fill out the matrix table. Impact levels are horizontal, and likelihood levels at the vertical axis.</a:t>
            </a:r>
            <a:endParaRPr sz="1412" kern="0" dirty="0">
              <a:solidFill>
                <a:srgbClr val="000000"/>
              </a:solidFill>
              <a:latin typeface="Arial"/>
              <a:cs typeface="Arial"/>
              <a:sym typeface="Arial"/>
            </a:endParaRPr>
          </a:p>
        </p:txBody>
      </p:sp>
      <p:graphicFrame>
        <p:nvGraphicFramePr>
          <p:cNvPr id="7" name="Google Shape;144;p25">
            <a:extLst>
              <a:ext uri="{FF2B5EF4-FFF2-40B4-BE49-F238E27FC236}">
                <a16:creationId xmlns:a16="http://schemas.microsoft.com/office/drawing/2014/main" id="{F3302C0C-4C13-4794-909B-67C93BD09F1E}"/>
              </a:ext>
            </a:extLst>
          </p:cNvPr>
          <p:cNvGraphicFramePr/>
          <p:nvPr/>
        </p:nvGraphicFramePr>
        <p:xfrm>
          <a:off x="169358" y="4383861"/>
          <a:ext cx="6454963" cy="4516964"/>
        </p:xfrm>
        <a:graphic>
          <a:graphicData uri="http://schemas.openxmlformats.org/drawingml/2006/table">
            <a:tbl>
              <a:tblPr>
                <a:noFill/>
              </a:tblPr>
              <a:tblGrid>
                <a:gridCol w="1453632">
                  <a:extLst>
                    <a:ext uri="{9D8B030D-6E8A-4147-A177-3AD203B41FA5}">
                      <a16:colId xmlns:a16="http://schemas.microsoft.com/office/drawing/2014/main" val="20000"/>
                    </a:ext>
                  </a:extLst>
                </a:gridCol>
                <a:gridCol w="1506375">
                  <a:extLst>
                    <a:ext uri="{9D8B030D-6E8A-4147-A177-3AD203B41FA5}">
                      <a16:colId xmlns:a16="http://schemas.microsoft.com/office/drawing/2014/main" val="20001"/>
                    </a:ext>
                  </a:extLst>
                </a:gridCol>
                <a:gridCol w="1643537">
                  <a:extLst>
                    <a:ext uri="{9D8B030D-6E8A-4147-A177-3AD203B41FA5}">
                      <a16:colId xmlns:a16="http://schemas.microsoft.com/office/drawing/2014/main" val="20002"/>
                    </a:ext>
                  </a:extLst>
                </a:gridCol>
                <a:gridCol w="1851419">
                  <a:extLst>
                    <a:ext uri="{9D8B030D-6E8A-4147-A177-3AD203B41FA5}">
                      <a16:colId xmlns:a16="http://schemas.microsoft.com/office/drawing/2014/main" val="20003"/>
                    </a:ext>
                  </a:extLst>
                </a:gridCol>
              </a:tblGrid>
              <a:tr h="794625">
                <a:tc>
                  <a:txBody>
                    <a:bodyPr/>
                    <a:lstStyle/>
                    <a:p>
                      <a:pPr marL="0" lvl="0" indent="0" algn="r" rtl="0">
                        <a:spcBef>
                          <a:spcPts val="0"/>
                        </a:spcBef>
                        <a:spcAft>
                          <a:spcPts val="0"/>
                        </a:spcAft>
                        <a:buNone/>
                      </a:pPr>
                      <a:r>
                        <a:rPr lang="en" sz="1600" dirty="0">
                          <a:solidFill>
                            <a:schemeClr val="lt1"/>
                          </a:solidFill>
                          <a:latin typeface="Open Sans"/>
                          <a:ea typeface="Open Sans"/>
                          <a:cs typeface="Open Sans"/>
                          <a:sym typeface="Open Sans"/>
                        </a:rPr>
                        <a:t>Impact</a:t>
                      </a:r>
                      <a:endParaRPr sz="1600" dirty="0">
                        <a:solidFill>
                          <a:schemeClr val="lt1"/>
                        </a:solidFill>
                        <a:latin typeface="Open Sans"/>
                        <a:ea typeface="Open Sans"/>
                        <a:cs typeface="Open Sans"/>
                        <a:sym typeface="Open Sans"/>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rowSpan="2">
                  <a:txBody>
                    <a:bodyPr/>
                    <a:lstStyle/>
                    <a:p>
                      <a:pPr marL="0" lvl="0" indent="0" algn="ctr" rtl="0">
                        <a:spcBef>
                          <a:spcPts val="0"/>
                        </a:spcBef>
                        <a:spcAft>
                          <a:spcPts val="0"/>
                        </a:spcAft>
                        <a:buNone/>
                      </a:pPr>
                      <a:r>
                        <a:rPr lang="en" sz="1600" dirty="0">
                          <a:solidFill>
                            <a:schemeClr val="lt1"/>
                          </a:solidFill>
                          <a:latin typeface="Open Sans"/>
                          <a:ea typeface="Open Sans"/>
                          <a:cs typeface="Open Sans"/>
                          <a:sym typeface="Open Sans"/>
                        </a:rPr>
                        <a:t>Low</a:t>
                      </a:r>
                      <a:endParaRPr sz="1600" dirty="0">
                        <a:solidFill>
                          <a:schemeClr val="lt1"/>
                        </a:solidFill>
                        <a:latin typeface="Open Sans"/>
                        <a:ea typeface="Open Sans"/>
                        <a:cs typeface="Open Sans"/>
                        <a:sym typeface="Open Sans"/>
                      </a:endParaRPr>
                    </a:p>
                  </a:txBody>
                  <a:tcPr marL="80669" marR="80669" marT="80669" marB="80669" anchor="ctr">
                    <a:lnL w="9525"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solidFill>
                      <a:srgbClr val="02B3E4"/>
                    </a:solidFill>
                  </a:tcPr>
                </a:tc>
                <a:tc rowSpan="2">
                  <a:txBody>
                    <a:bodyPr/>
                    <a:lstStyle/>
                    <a:p>
                      <a:pPr marL="0" lvl="0" indent="0" algn="ctr" rtl="0">
                        <a:spcBef>
                          <a:spcPts val="0"/>
                        </a:spcBef>
                        <a:spcAft>
                          <a:spcPts val="0"/>
                        </a:spcAft>
                        <a:buNone/>
                      </a:pPr>
                      <a:r>
                        <a:rPr lang="en" sz="1600" dirty="0">
                          <a:solidFill>
                            <a:schemeClr val="lt1"/>
                          </a:solidFill>
                          <a:latin typeface="Open Sans"/>
                          <a:ea typeface="Open Sans"/>
                          <a:cs typeface="Open Sans"/>
                          <a:sym typeface="Open Sans"/>
                        </a:rPr>
                        <a:t>Medium</a:t>
                      </a:r>
                      <a:endParaRPr sz="1600" dirty="0">
                        <a:solidFill>
                          <a:schemeClr val="lt1"/>
                        </a:solidFill>
                        <a:latin typeface="Open Sans"/>
                        <a:ea typeface="Open Sans"/>
                        <a:cs typeface="Open Sans"/>
                        <a:sym typeface="Open Sans"/>
                      </a:endParaRPr>
                    </a:p>
                  </a:txBody>
                  <a:tcPr marL="80691" marR="80691" marT="80691" marB="80691"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rowSpan="2">
                  <a:txBody>
                    <a:bodyPr/>
                    <a:lstStyle/>
                    <a:p>
                      <a:pPr marL="0" lvl="0" indent="0" algn="ctr" rtl="0">
                        <a:spcBef>
                          <a:spcPts val="0"/>
                        </a:spcBef>
                        <a:spcAft>
                          <a:spcPts val="0"/>
                        </a:spcAft>
                        <a:buNone/>
                      </a:pPr>
                      <a:r>
                        <a:rPr lang="en" sz="1600" dirty="0">
                          <a:solidFill>
                            <a:schemeClr val="lt1"/>
                          </a:solidFill>
                          <a:latin typeface="Open Sans"/>
                          <a:ea typeface="Open Sans"/>
                          <a:cs typeface="Open Sans"/>
                          <a:sym typeface="Open Sans"/>
                        </a:rPr>
                        <a:t>High</a:t>
                      </a:r>
                      <a:endParaRPr sz="1600" dirty="0">
                        <a:solidFill>
                          <a:schemeClr val="lt1"/>
                        </a:solidFill>
                        <a:latin typeface="Open Sans"/>
                        <a:ea typeface="Open Sans"/>
                        <a:cs typeface="Open Sans"/>
                        <a:sym typeface="Open Sans"/>
                      </a:endParaRPr>
                    </a:p>
                  </a:txBody>
                  <a:tcPr marL="80691" marR="80691" marT="80691" marB="80691"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extLst>
                  <a:ext uri="{0D108BD9-81ED-4DB2-BD59-A6C34878D82A}">
                    <a16:rowId xmlns:a16="http://schemas.microsoft.com/office/drawing/2014/main" val="10000"/>
                  </a:ext>
                </a:extLst>
              </a:tr>
              <a:tr h="497581">
                <a:tc>
                  <a:txBody>
                    <a:bodyPr/>
                    <a:lstStyle/>
                    <a:p>
                      <a:pPr marL="0" lvl="0" indent="0" algn="ctr" rtl="0">
                        <a:spcBef>
                          <a:spcPts val="0"/>
                        </a:spcBef>
                        <a:spcAft>
                          <a:spcPts val="0"/>
                        </a:spcAft>
                        <a:buClr>
                          <a:schemeClr val="dk1"/>
                        </a:buClr>
                        <a:buSzPts val="1100"/>
                        <a:buFont typeface="Arial"/>
                        <a:buNone/>
                      </a:pPr>
                      <a:r>
                        <a:rPr lang="en" sz="1600" dirty="0">
                          <a:solidFill>
                            <a:schemeClr val="lt1"/>
                          </a:solidFill>
                          <a:latin typeface="Open Sans"/>
                          <a:ea typeface="Open Sans"/>
                          <a:cs typeface="Open Sans"/>
                          <a:sym typeface="Open Sans"/>
                        </a:rPr>
                        <a:t>Likelihood</a:t>
                      </a:r>
                      <a:endParaRPr sz="1600" dirty="0">
                        <a:solidFill>
                          <a:schemeClr val="lt1"/>
                        </a:solidFill>
                        <a:latin typeface="Open Sans"/>
                        <a:ea typeface="Open Sans"/>
                        <a:cs typeface="Open Sans"/>
                        <a:sym typeface="Open Sans"/>
                      </a:endParaRPr>
                    </a:p>
                  </a:txBody>
                  <a:tcPr marL="80669" marR="80669" marT="80669" marB="80669" anchor="b">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1241493">
                <a:tc>
                  <a:txBody>
                    <a:bodyPr/>
                    <a:lstStyle/>
                    <a:p>
                      <a:pPr marL="0" lvl="0" indent="0" algn="ctr" rtl="0">
                        <a:spcBef>
                          <a:spcPts val="0"/>
                        </a:spcBef>
                        <a:spcAft>
                          <a:spcPts val="0"/>
                        </a:spcAft>
                        <a:buNone/>
                      </a:pPr>
                      <a:r>
                        <a:rPr lang="en" sz="1600">
                          <a:solidFill>
                            <a:srgbClr val="FFFFFF"/>
                          </a:solidFill>
                          <a:latin typeface="Open Sans"/>
                          <a:ea typeface="Open Sans"/>
                          <a:cs typeface="Open Sans"/>
                          <a:sym typeface="Open Sans"/>
                        </a:rPr>
                        <a:t>High</a:t>
                      </a:r>
                      <a:endParaRPr sz="1600">
                        <a:solidFill>
                          <a:srgbClr val="FFFFFF"/>
                        </a:solidFill>
                        <a:latin typeface="Open Sans"/>
                        <a:ea typeface="Open Sans"/>
                        <a:cs typeface="Open Sans"/>
                        <a:sym typeface="Open Sans"/>
                      </a:endParaRPr>
                    </a:p>
                  </a:txBody>
                  <a:tcPr marL="80691" marR="80691" marT="80691" marB="80691"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lvl="0" indent="0" algn="ctr" rtl="0">
                        <a:spcBef>
                          <a:spcPts val="0"/>
                        </a:spcBef>
                        <a:spcAft>
                          <a:spcPts val="0"/>
                        </a:spcAft>
                        <a:buNone/>
                      </a:pPr>
                      <a:endParaRPr sz="1400" dirty="0">
                        <a:latin typeface="Open Sans Medium"/>
                        <a:ea typeface="Open Sans Medium"/>
                        <a:cs typeface="Open Sans Medium"/>
                        <a:sym typeface="Open Sans Medium"/>
                      </a:endParaRPr>
                    </a:p>
                  </a:txBody>
                  <a:tcPr marL="80669" marR="80669" marT="80669" marB="80669"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dirty="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dirty="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2"/>
                  </a:ext>
                </a:extLst>
              </a:tr>
              <a:tr h="1016868">
                <a:tc>
                  <a:txBody>
                    <a:bodyPr/>
                    <a:lstStyle/>
                    <a:p>
                      <a:pPr marL="0" lvl="0" indent="0" algn="ctr" rtl="0">
                        <a:spcBef>
                          <a:spcPts val="0"/>
                        </a:spcBef>
                        <a:spcAft>
                          <a:spcPts val="0"/>
                        </a:spcAft>
                        <a:buNone/>
                      </a:pPr>
                      <a:r>
                        <a:rPr lang="en" sz="1600">
                          <a:solidFill>
                            <a:srgbClr val="FFFFFF"/>
                          </a:solidFill>
                          <a:latin typeface="Open Sans"/>
                          <a:ea typeface="Open Sans"/>
                          <a:cs typeface="Open Sans"/>
                          <a:sym typeface="Open Sans"/>
                        </a:rPr>
                        <a:t>Medium</a:t>
                      </a:r>
                      <a:endParaRPr sz="1600">
                        <a:solidFill>
                          <a:srgbClr val="FFFFFF"/>
                        </a:solidFill>
                        <a:latin typeface="Open Sans"/>
                        <a:ea typeface="Open Sans"/>
                        <a:cs typeface="Open Sans"/>
                        <a:sym typeface="Open Sans"/>
                      </a:endParaRPr>
                    </a:p>
                  </a:txBody>
                  <a:tcPr marL="80691" marR="80691" marT="80691" marB="80691"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lvl="0" indent="0" algn="ctr" rtl="0">
                        <a:spcBef>
                          <a:spcPts val="0"/>
                        </a:spcBef>
                        <a:spcAft>
                          <a:spcPts val="0"/>
                        </a:spcAft>
                        <a:buNone/>
                      </a:pPr>
                      <a:endParaRPr sz="1400">
                        <a:latin typeface="Open Sans Medium"/>
                        <a:ea typeface="Open Sans Medium"/>
                        <a:cs typeface="Open Sans Medium"/>
                        <a:sym typeface="Open Sans Medium"/>
                      </a:endParaRPr>
                    </a:p>
                  </a:txBody>
                  <a:tcPr marL="80669" marR="80669" marT="80669" marB="80669"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3"/>
                  </a:ext>
                </a:extLst>
              </a:tr>
              <a:tr h="966397">
                <a:tc>
                  <a:txBody>
                    <a:bodyPr/>
                    <a:lstStyle/>
                    <a:p>
                      <a:pPr marL="0" lvl="0" indent="0" algn="ctr" rtl="0">
                        <a:spcBef>
                          <a:spcPts val="0"/>
                        </a:spcBef>
                        <a:spcAft>
                          <a:spcPts val="0"/>
                        </a:spcAft>
                        <a:buNone/>
                      </a:pPr>
                      <a:r>
                        <a:rPr lang="en" sz="1600">
                          <a:solidFill>
                            <a:srgbClr val="FFFFFF"/>
                          </a:solidFill>
                          <a:latin typeface="Open Sans"/>
                          <a:ea typeface="Open Sans"/>
                          <a:cs typeface="Open Sans"/>
                          <a:sym typeface="Open Sans"/>
                        </a:rPr>
                        <a:t>Low</a:t>
                      </a:r>
                      <a:endParaRPr sz="1600">
                        <a:solidFill>
                          <a:srgbClr val="FFFFFF"/>
                        </a:solidFill>
                        <a:latin typeface="Open Sans"/>
                        <a:ea typeface="Open Sans"/>
                        <a:cs typeface="Open Sans"/>
                        <a:sym typeface="Open Sans"/>
                      </a:endParaRPr>
                    </a:p>
                  </a:txBody>
                  <a:tcPr marL="80691" marR="80691" marT="80691" marB="80691" anchor="ctr">
                    <a:lnL w="12700" cap="flat" cmpd="sng">
                      <a:solidFill>
                        <a:srgbClr val="DBE2E8"/>
                      </a:solidFill>
                      <a:prstDash val="solid"/>
                      <a:round/>
                      <a:headEnd type="none" w="sm" len="sm"/>
                      <a:tailEnd type="none" w="sm" len="sm"/>
                    </a:lnL>
                    <a:lnR w="12700" cap="flat" cmpd="sng">
                      <a:solidFill>
                        <a:srgbClr val="DBE2E8"/>
                      </a:solidFill>
                      <a:prstDash val="solid"/>
                      <a:round/>
                      <a:headEnd type="none" w="sm" len="sm"/>
                      <a:tailEnd type="none" w="sm" len="sm"/>
                    </a:lnR>
                    <a:lnT w="12700" cap="flat" cmpd="sng">
                      <a:solidFill>
                        <a:srgbClr val="DBE2E8"/>
                      </a:solidFill>
                      <a:prstDash val="solid"/>
                      <a:round/>
                      <a:headEnd type="none" w="sm" len="sm"/>
                      <a:tailEnd type="none" w="sm" len="sm"/>
                    </a:lnT>
                    <a:lnB w="12700" cap="flat" cmpd="sng">
                      <a:solidFill>
                        <a:srgbClr val="DBE2E8"/>
                      </a:solidFill>
                      <a:prstDash val="solid"/>
                      <a:round/>
                      <a:headEnd type="none" w="sm" len="sm"/>
                      <a:tailEnd type="none" w="sm" len="sm"/>
                    </a:lnB>
                    <a:solidFill>
                      <a:srgbClr val="02B3E4"/>
                    </a:solidFill>
                  </a:tcPr>
                </a:tc>
                <a:tc>
                  <a:txBody>
                    <a:bodyPr/>
                    <a:lstStyle/>
                    <a:p>
                      <a:pPr marL="0" lvl="0" indent="0" algn="ctr" rtl="0">
                        <a:spcBef>
                          <a:spcPts val="0"/>
                        </a:spcBef>
                        <a:spcAft>
                          <a:spcPts val="0"/>
                        </a:spcAft>
                        <a:buNone/>
                      </a:pPr>
                      <a:endParaRPr sz="1400">
                        <a:latin typeface="Open Sans Medium"/>
                        <a:ea typeface="Open Sans Medium"/>
                        <a:cs typeface="Open Sans Medium"/>
                        <a:sym typeface="Open Sans Medium"/>
                      </a:endParaRPr>
                    </a:p>
                  </a:txBody>
                  <a:tcPr marL="80669" marR="80669" marT="80669" marB="80669" anchor="ctr">
                    <a:lnL w="12700"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tc>
                  <a:txBody>
                    <a:bodyPr/>
                    <a:lstStyle/>
                    <a:p>
                      <a:pPr marL="0" lvl="0" indent="0" algn="ctr" rtl="0">
                        <a:spcBef>
                          <a:spcPts val="0"/>
                        </a:spcBef>
                        <a:spcAft>
                          <a:spcPts val="0"/>
                        </a:spcAft>
                        <a:buNone/>
                      </a:pPr>
                      <a:endParaRPr sz="1400" dirty="0">
                        <a:latin typeface="Open Sans Medium"/>
                        <a:ea typeface="Open Sans Medium"/>
                        <a:cs typeface="Open Sans Medium"/>
                        <a:sym typeface="Open Sans Medium"/>
                      </a:endParaRPr>
                    </a:p>
                  </a:txBody>
                  <a:tcPr marL="80669" marR="80669" marT="80669" marB="80669" anchor="ctr">
                    <a:lnL w="9525" cap="flat" cmpd="sng">
                      <a:solidFill>
                        <a:srgbClr val="DBE2E8"/>
                      </a:solidFill>
                      <a:prstDash val="solid"/>
                      <a:round/>
                      <a:headEnd type="none" w="sm" len="sm"/>
                      <a:tailEnd type="none" w="sm" len="sm"/>
                    </a:lnL>
                    <a:lnR w="9525" cap="flat" cmpd="sng">
                      <a:solidFill>
                        <a:srgbClr val="DBE2E8"/>
                      </a:solidFill>
                      <a:prstDash val="solid"/>
                      <a:round/>
                      <a:headEnd type="none" w="sm" len="sm"/>
                      <a:tailEnd type="none" w="sm" len="sm"/>
                    </a:lnR>
                    <a:lnT w="9525" cap="flat" cmpd="sng">
                      <a:solidFill>
                        <a:srgbClr val="DBE2E8"/>
                      </a:solidFill>
                      <a:prstDash val="solid"/>
                      <a:round/>
                      <a:headEnd type="none" w="sm" len="sm"/>
                      <a:tailEnd type="none" w="sm" len="sm"/>
                    </a:lnT>
                    <a:lnB w="9525" cap="flat" cmpd="sng">
                      <a:solidFill>
                        <a:srgbClr val="DBE2E8"/>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92388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Corbel" panose="020B0503020204020204"/>
                <a:ea typeface="+mn-ea"/>
                <a:cs typeface="+mn-cs"/>
              </a:rPr>
              <a:t>Container Security</a:t>
            </a:r>
          </a:p>
        </p:txBody>
      </p:sp>
    </p:spTree>
    <p:extLst>
      <p:ext uri="{BB962C8B-B14F-4D97-AF65-F5344CB8AC3E}">
        <p14:creationId xmlns:p14="http://schemas.microsoft.com/office/powerpoint/2010/main" val="2034461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Container Security</a:t>
            </a:r>
            <a:endParaRPr/>
          </a:p>
        </p:txBody>
      </p:sp>
      <p:sp>
        <p:nvSpPr>
          <p:cNvPr id="159" name="Google Shape;159;p27"/>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lnSpc>
                <a:spcPct val="100000"/>
              </a:lnSpc>
              <a:buClr>
                <a:schemeClr val="dk1"/>
              </a:buClr>
              <a:buSzPts val="1100"/>
              <a:buNone/>
            </a:pPr>
            <a:r>
              <a:rPr lang="en" dirty="0"/>
              <a:t>It is time to delve into the container services underpinning CryptoV4ult's application infrastructure by scanning for potential vulnerabilities. Scan one of the container services running in the application (located at vulnerables/cve-2014-6271) and identify potential vulnerabilities. Then, you will build a remediation plan to resolve some of the container vulnerabilities.</a:t>
            </a:r>
            <a:endParaRPr dirty="0"/>
          </a:p>
          <a:p>
            <a:pPr marL="0" indent="0">
              <a:lnSpc>
                <a:spcPct val="100000"/>
              </a:lnSpc>
              <a:buClr>
                <a:schemeClr val="dk1"/>
              </a:buClr>
              <a:buSzPts val="1100"/>
              <a:buNone/>
            </a:pPr>
            <a:endParaRPr dirty="0"/>
          </a:p>
          <a:p>
            <a:pPr>
              <a:lnSpc>
                <a:spcPct val="100000"/>
              </a:lnSpc>
            </a:pPr>
            <a:r>
              <a:rPr lang="en" i="1" dirty="0"/>
              <a:t>Using </a:t>
            </a:r>
            <a:r>
              <a:rPr lang="en" b="1" i="1" dirty="0">
                <a:latin typeface="Open Sans"/>
                <a:ea typeface="Open Sans"/>
                <a:cs typeface="Open Sans"/>
                <a:sym typeface="Open Sans"/>
              </a:rPr>
              <a:t>Trivy</a:t>
            </a:r>
            <a:r>
              <a:rPr lang="en" i="1" dirty="0"/>
              <a:t>, run a </a:t>
            </a:r>
            <a:r>
              <a:rPr lang="en" b="1" i="1" dirty="0">
                <a:latin typeface="Open Sans"/>
                <a:ea typeface="Open Sans"/>
                <a:cs typeface="Open Sans"/>
                <a:sym typeface="Open Sans"/>
              </a:rPr>
              <a:t>scan</a:t>
            </a:r>
            <a:r>
              <a:rPr lang="en" i="1" dirty="0"/>
              <a:t> against the container located at </a:t>
            </a:r>
            <a:r>
              <a:rPr lang="en" b="1" i="1" dirty="0">
                <a:latin typeface="Open Sans"/>
                <a:ea typeface="Open Sans"/>
                <a:cs typeface="Open Sans"/>
                <a:sym typeface="Open Sans"/>
              </a:rPr>
              <a:t>vulnerables/cve-2014-6271</a:t>
            </a:r>
            <a:r>
              <a:rPr lang="en" i="1" dirty="0"/>
              <a:t>. You can run this scan from the Kali VM in the lab where Trivy is located or from your own computer</a:t>
            </a:r>
            <a:endParaRPr i="1" dirty="0"/>
          </a:p>
          <a:p>
            <a:r>
              <a:rPr lang="en" i="1" dirty="0"/>
              <a:t>Create a </a:t>
            </a:r>
            <a:r>
              <a:rPr lang="en" b="1" i="1" dirty="0">
                <a:latin typeface="Open Sans"/>
                <a:ea typeface="Open Sans"/>
                <a:cs typeface="Open Sans"/>
                <a:sym typeface="Open Sans"/>
              </a:rPr>
              <a:t>screenshot </a:t>
            </a:r>
            <a:r>
              <a:rPr lang="en" i="1" dirty="0"/>
              <a:t>of the </a:t>
            </a:r>
            <a:r>
              <a:rPr lang="en" b="1" i="1" dirty="0">
                <a:latin typeface="Open Sans"/>
                <a:ea typeface="Open Sans"/>
                <a:cs typeface="Open Sans"/>
                <a:sym typeface="Open Sans"/>
              </a:rPr>
              <a:t>Trivy scan results</a:t>
            </a:r>
            <a:r>
              <a:rPr lang="en" i="1" dirty="0"/>
              <a:t> (it does not have to show all the results) and place it on the next slide</a:t>
            </a:r>
            <a:endParaRPr i="1" dirty="0"/>
          </a:p>
          <a:p>
            <a:r>
              <a:rPr lang="en" b="1" i="1" dirty="0">
                <a:latin typeface="Open Sans"/>
                <a:ea typeface="Open Sans"/>
                <a:cs typeface="Open Sans"/>
                <a:sym typeface="Open Sans"/>
              </a:rPr>
              <a:t>Fill out the Report</a:t>
            </a:r>
            <a:r>
              <a:rPr lang="en" i="1" dirty="0"/>
              <a:t> to Fix Container Issues with at least 7 items</a:t>
            </a:r>
            <a:endParaRPr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Trivy scan screenshot</a:t>
            </a:r>
            <a:endParaRPr lang="en-IN" dirty="0"/>
          </a:p>
        </p:txBody>
      </p:sp>
      <p:sp>
        <p:nvSpPr>
          <p:cNvPr id="5" name="Google Shape;165;p28">
            <a:extLst>
              <a:ext uri="{FF2B5EF4-FFF2-40B4-BE49-F238E27FC236}">
                <a16:creationId xmlns:a16="http://schemas.microsoft.com/office/drawing/2014/main" id="{D5652C66-3B16-4174-8C16-1F2EDD97EAF9}"/>
              </a:ext>
            </a:extLst>
          </p:cNvPr>
          <p:cNvSpPr txBox="1"/>
          <p:nvPr/>
        </p:nvSpPr>
        <p:spPr>
          <a:xfrm>
            <a:off x="201618" y="1890508"/>
            <a:ext cx="6454853" cy="662666"/>
          </a:xfrm>
          <a:prstGeom prst="rect">
            <a:avLst/>
          </a:prstGeom>
          <a:noFill/>
          <a:ln>
            <a:noFill/>
          </a:ln>
        </p:spPr>
        <p:txBody>
          <a:bodyPr spcFirstLastPara="1" wrap="square" lIns="80669" tIns="80669" rIns="80669" bIns="80669" anchor="t" anchorCtr="0">
            <a:spAutoFit/>
          </a:bodyPr>
          <a:lstStyle/>
          <a:p>
            <a:pPr defTabSz="806867">
              <a:lnSpc>
                <a:spcPct val="115000"/>
              </a:lnSpc>
              <a:buClr>
                <a:srgbClr val="000000"/>
              </a:buClr>
            </a:pPr>
            <a:r>
              <a:rPr lang="en" sz="1412" i="1" kern="0" dirty="0">
                <a:solidFill>
                  <a:srgbClr val="525C65"/>
                </a:solidFill>
                <a:latin typeface="Open Sans Light"/>
                <a:ea typeface="Open Sans Light"/>
                <a:cs typeface="Open Sans Light"/>
                <a:sym typeface="Open Sans Light"/>
              </a:rPr>
              <a:t>Place a screenshot from the Trivy scan results on this slide. </a:t>
            </a:r>
            <a:r>
              <a:rPr lang="en-IN" sz="1412" i="1" kern="0" dirty="0">
                <a:solidFill>
                  <a:srgbClr val="525C65"/>
                </a:solidFill>
                <a:latin typeface="Open Sans Light"/>
                <a:ea typeface="Open Sans Light"/>
                <a:cs typeface="Open Sans Light"/>
                <a:sym typeface="Open Sans Light"/>
              </a:rPr>
              <a:t>M</a:t>
            </a:r>
            <a:r>
              <a:rPr lang="en" sz="1412" i="1" kern="0" dirty="0">
                <a:solidFill>
                  <a:srgbClr val="525C65"/>
                </a:solidFill>
                <a:latin typeface="Open Sans Light"/>
                <a:ea typeface="Open Sans Light"/>
                <a:cs typeface="Open Sans Light"/>
                <a:sym typeface="Open Sans Light"/>
              </a:rPr>
              <a:t>ake sure your hostname is clearly visible.</a:t>
            </a:r>
            <a:endParaRPr sz="1412" kern="0" dirty="0">
              <a:solidFill>
                <a:srgbClr val="000000"/>
              </a:solidFill>
              <a:latin typeface="Arial"/>
              <a:cs typeface="Arial"/>
              <a:sym typeface="Arial"/>
            </a:endParaRPr>
          </a:p>
        </p:txBody>
      </p:sp>
    </p:spTree>
    <p:extLst>
      <p:ext uri="{BB962C8B-B14F-4D97-AF65-F5344CB8AC3E}">
        <p14:creationId xmlns:p14="http://schemas.microsoft.com/office/powerpoint/2010/main" val="2400533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Report to Fix Container Issues</a:t>
            </a:r>
            <a:endParaRPr lang="en-IN" dirty="0"/>
          </a:p>
        </p:txBody>
      </p:sp>
      <p:sp>
        <p:nvSpPr>
          <p:cNvPr id="4" name="Google Shape;171;p29">
            <a:extLst>
              <a:ext uri="{FF2B5EF4-FFF2-40B4-BE49-F238E27FC236}">
                <a16:creationId xmlns:a16="http://schemas.microsoft.com/office/drawing/2014/main" id="{8D7CD75B-7A88-4BD1-9A31-65F465BF5CF2}"/>
              </a:ext>
            </a:extLst>
          </p:cNvPr>
          <p:cNvSpPr txBox="1"/>
          <p:nvPr/>
        </p:nvSpPr>
        <p:spPr>
          <a:xfrm>
            <a:off x="201618" y="1952272"/>
            <a:ext cx="6454853" cy="662666"/>
          </a:xfrm>
          <a:prstGeom prst="rect">
            <a:avLst/>
          </a:prstGeom>
          <a:noFill/>
          <a:ln>
            <a:noFill/>
          </a:ln>
        </p:spPr>
        <p:txBody>
          <a:bodyPr spcFirstLastPara="1" wrap="square" lIns="80669" tIns="80669" rIns="80669" bIns="80669" anchor="t" anchorCtr="0">
            <a:spAutoFit/>
          </a:bodyPr>
          <a:lstStyle/>
          <a:p>
            <a:pPr defTabSz="806867">
              <a:lnSpc>
                <a:spcPct val="115000"/>
              </a:lnSpc>
              <a:buClr>
                <a:srgbClr val="000000"/>
              </a:buClr>
            </a:pPr>
            <a:r>
              <a:rPr lang="en" sz="1412" i="1" kern="0" dirty="0">
                <a:solidFill>
                  <a:srgbClr val="525C65"/>
                </a:solidFill>
                <a:latin typeface="Open Sans Light"/>
                <a:ea typeface="Open Sans Light"/>
                <a:cs typeface="Open Sans Light"/>
                <a:sym typeface="Open Sans Light"/>
              </a:rPr>
              <a:t>Fill out the report with 7 items. Make sure to write the </a:t>
            </a:r>
            <a:r>
              <a:rPr lang="en" sz="1412" b="1" i="1" kern="0" dirty="0">
                <a:solidFill>
                  <a:srgbClr val="525C65"/>
                </a:solidFill>
                <a:latin typeface="Open Sans"/>
                <a:ea typeface="Open Sans"/>
                <a:cs typeface="Open Sans"/>
                <a:sym typeface="Open Sans"/>
              </a:rPr>
              <a:t>Issues in the correct form of  (Application Name: CVE number).</a:t>
            </a:r>
            <a:endParaRPr sz="1412" b="1" kern="0" dirty="0">
              <a:solidFill>
                <a:srgbClr val="000000"/>
              </a:solidFill>
              <a:latin typeface="Arial"/>
              <a:cs typeface="Arial"/>
              <a:sym typeface="Arial"/>
            </a:endParaRPr>
          </a:p>
        </p:txBody>
      </p:sp>
      <p:graphicFrame>
        <p:nvGraphicFramePr>
          <p:cNvPr id="6" name="Google Shape;172;p29">
            <a:extLst>
              <a:ext uri="{FF2B5EF4-FFF2-40B4-BE49-F238E27FC236}">
                <a16:creationId xmlns:a16="http://schemas.microsoft.com/office/drawing/2014/main" id="{FA4B9C63-9CDC-4898-A82A-34F1E5DF2255}"/>
              </a:ext>
            </a:extLst>
          </p:cNvPr>
          <p:cNvGraphicFramePr/>
          <p:nvPr>
            <p:extLst>
              <p:ext uri="{D42A27DB-BD31-4B8C-83A1-F6EECF244321}">
                <p14:modId xmlns:p14="http://schemas.microsoft.com/office/powerpoint/2010/main" val="2019075000"/>
              </p:ext>
            </p:extLst>
          </p:nvPr>
        </p:nvGraphicFramePr>
        <p:xfrm>
          <a:off x="233736" y="2644301"/>
          <a:ext cx="6390528" cy="3252310"/>
        </p:xfrm>
        <a:graphic>
          <a:graphicData uri="http://schemas.openxmlformats.org/drawingml/2006/table">
            <a:tbl>
              <a:tblPr>
                <a:noFill/>
              </a:tblPr>
              <a:tblGrid>
                <a:gridCol w="2316926">
                  <a:extLst>
                    <a:ext uri="{9D8B030D-6E8A-4147-A177-3AD203B41FA5}">
                      <a16:colId xmlns:a16="http://schemas.microsoft.com/office/drawing/2014/main" val="20000"/>
                    </a:ext>
                  </a:extLst>
                </a:gridCol>
                <a:gridCol w="1943426">
                  <a:extLst>
                    <a:ext uri="{9D8B030D-6E8A-4147-A177-3AD203B41FA5}">
                      <a16:colId xmlns:a16="http://schemas.microsoft.com/office/drawing/2014/main" val="20001"/>
                    </a:ext>
                  </a:extLst>
                </a:gridCol>
                <a:gridCol w="2130176">
                  <a:extLst>
                    <a:ext uri="{9D8B030D-6E8A-4147-A177-3AD203B41FA5}">
                      <a16:colId xmlns:a16="http://schemas.microsoft.com/office/drawing/2014/main" val="20002"/>
                    </a:ext>
                  </a:extLst>
                </a:gridCol>
              </a:tblGrid>
              <a:tr h="667147">
                <a:tc>
                  <a:txBody>
                    <a:bodyPr/>
                    <a:lstStyle/>
                    <a:p>
                      <a:pPr marL="0" lvl="0" indent="0" algn="ctr" rtl="0">
                        <a:spcBef>
                          <a:spcPts val="0"/>
                        </a:spcBef>
                        <a:spcAft>
                          <a:spcPts val="0"/>
                        </a:spcAft>
                        <a:buNone/>
                      </a:pPr>
                      <a:r>
                        <a:rPr lang="en-US" sz="1600" b="1" dirty="0">
                          <a:solidFill>
                            <a:schemeClr val="dk1"/>
                          </a:solidFill>
                          <a:latin typeface="Open Sans"/>
                          <a:ea typeface="Open Sans"/>
                          <a:cs typeface="Open Sans"/>
                          <a:sym typeface="Open Sans"/>
                        </a:rPr>
                        <a:t>Vulnerability Name</a:t>
                      </a:r>
                      <a:endParaRPr sz="1600" b="1" dirty="0">
                        <a:solidFill>
                          <a:schemeClr val="dk1"/>
                        </a:solidFill>
                        <a:latin typeface="Open Sans"/>
                        <a:ea typeface="Open Sans"/>
                        <a:cs typeface="Open Sans"/>
                        <a:sym typeface="Open Sans"/>
                      </a:endParaRPr>
                    </a:p>
                  </a:txBody>
                  <a:tcPr marL="80669" marR="80669" marT="80669" marB="80669" anchor="ctr"/>
                </a:tc>
                <a:tc>
                  <a:txBody>
                    <a:bodyPr/>
                    <a:lstStyle/>
                    <a:p>
                      <a:pPr marL="0" lvl="0" indent="0" algn="ctr" rtl="0">
                        <a:spcBef>
                          <a:spcPts val="0"/>
                        </a:spcBef>
                        <a:spcAft>
                          <a:spcPts val="0"/>
                        </a:spcAft>
                        <a:buNone/>
                      </a:pPr>
                      <a:r>
                        <a:rPr lang="en" sz="1600" b="1">
                          <a:solidFill>
                            <a:schemeClr val="dk1"/>
                          </a:solidFill>
                          <a:latin typeface="Open Sans"/>
                          <a:ea typeface="Open Sans"/>
                          <a:cs typeface="Open Sans"/>
                          <a:sym typeface="Open Sans"/>
                        </a:rPr>
                        <a:t>Unpatched Software Version</a:t>
                      </a:r>
                      <a:endParaRPr sz="1600" b="1">
                        <a:solidFill>
                          <a:schemeClr val="dk1"/>
                        </a:solidFill>
                        <a:latin typeface="Open Sans"/>
                        <a:ea typeface="Open Sans"/>
                        <a:cs typeface="Open Sans"/>
                        <a:sym typeface="Open Sans"/>
                      </a:endParaRPr>
                    </a:p>
                  </a:txBody>
                  <a:tcPr marL="80669" marR="80669" marT="80669" marB="80669" anchor="ctr"/>
                </a:tc>
                <a:tc>
                  <a:txBody>
                    <a:bodyPr/>
                    <a:lstStyle/>
                    <a:p>
                      <a:pPr marL="0" lvl="0" indent="0" algn="ctr" rtl="0">
                        <a:spcBef>
                          <a:spcPts val="0"/>
                        </a:spcBef>
                        <a:spcAft>
                          <a:spcPts val="0"/>
                        </a:spcAft>
                        <a:buNone/>
                      </a:pPr>
                      <a:r>
                        <a:rPr lang="en" sz="1600" b="1">
                          <a:solidFill>
                            <a:schemeClr val="dk1"/>
                          </a:solidFill>
                          <a:latin typeface="Open Sans"/>
                          <a:ea typeface="Open Sans"/>
                          <a:cs typeface="Open Sans"/>
                          <a:sym typeface="Open Sans"/>
                        </a:rPr>
                        <a:t>Patched Software Version</a:t>
                      </a:r>
                      <a:endParaRPr sz="1600" b="1">
                        <a:solidFill>
                          <a:schemeClr val="dk1"/>
                        </a:solidFill>
                        <a:latin typeface="Open Sans"/>
                        <a:ea typeface="Open Sans"/>
                        <a:cs typeface="Open Sans"/>
                        <a:sym typeface="Open Sans"/>
                      </a:endParaRPr>
                    </a:p>
                  </a:txBody>
                  <a:tcPr marL="80669" marR="80669" marT="80669" marB="80669" anchor="ctr"/>
                </a:tc>
                <a:extLst>
                  <a:ext uri="{0D108BD9-81ED-4DB2-BD59-A6C34878D82A}">
                    <a16:rowId xmlns:a16="http://schemas.microsoft.com/office/drawing/2014/main" val="10000"/>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1"/>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2"/>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3"/>
                  </a:ext>
                </a:extLst>
              </a:tr>
              <a:tr h="369309">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4"/>
                  </a:ext>
                </a:extLst>
              </a:tr>
              <a:tr h="369309">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5"/>
                  </a:ext>
                </a:extLst>
              </a:tr>
              <a:tr h="369309">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6"/>
                  </a:ext>
                </a:extLst>
              </a:tr>
              <a:tr h="369309">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a:latin typeface="Open Sans Medium"/>
                        <a:ea typeface="Open Sans Medium"/>
                        <a:cs typeface="Open Sans Medium"/>
                        <a:sym typeface="Open Sans Medium"/>
                      </a:endParaRPr>
                    </a:p>
                  </a:txBody>
                  <a:tcPr marL="80669" marR="80669" marT="80669" marB="80669" anchor="ctr"/>
                </a:tc>
                <a:tc>
                  <a:txBody>
                    <a:bodyPr/>
                    <a:lstStyle/>
                    <a:p>
                      <a:pPr marL="0" lvl="0" indent="0" algn="ctr" rtl="0">
                        <a:spcBef>
                          <a:spcPts val="0"/>
                        </a:spcBef>
                        <a:spcAft>
                          <a:spcPts val="0"/>
                        </a:spcAft>
                        <a:buNone/>
                      </a:pPr>
                      <a:endParaRPr sz="1100" dirty="0">
                        <a:latin typeface="Open Sans Medium"/>
                        <a:ea typeface="Open Sans Medium"/>
                        <a:cs typeface="Open Sans Medium"/>
                        <a:sym typeface="Open Sans Medium"/>
                      </a:endParaRPr>
                    </a:p>
                  </a:txBody>
                  <a:tcPr marL="80669" marR="80669" marT="80669" marB="80669"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6290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D3B5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988086-223B-4BE2-B20C-BDAA51064FCE}"/>
              </a:ext>
            </a:extLst>
          </p:cNvPr>
          <p:cNvSpPr txBox="1"/>
          <p:nvPr/>
        </p:nvSpPr>
        <p:spPr>
          <a:xfrm>
            <a:off x="625642" y="2544270"/>
            <a:ext cx="4644190"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Corbel" panose="020B0503020204020204"/>
                <a:ea typeface="+mn-ea"/>
                <a:cs typeface="+mn-cs"/>
              </a:rPr>
              <a:t>Section 4:</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FFFFFF"/>
                </a:solidFill>
                <a:effectLst/>
                <a:uLnTx/>
                <a:uFillTx/>
                <a:latin typeface="Corbel" panose="020B0503020204020204"/>
                <a:ea typeface="+mn-ea"/>
                <a:cs typeface="+mn-cs"/>
              </a:rPr>
              <a:t>API Security</a:t>
            </a:r>
          </a:p>
        </p:txBody>
      </p:sp>
    </p:spTree>
    <p:extLst>
      <p:ext uri="{BB962C8B-B14F-4D97-AF65-F5344CB8AC3E}">
        <p14:creationId xmlns:p14="http://schemas.microsoft.com/office/powerpoint/2010/main" val="3048812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1"/>
          <p:cNvSpPr txBox="1">
            <a:spLocks noGrp="1"/>
          </p:cNvSpPr>
          <p:nvPr>
            <p:ph type="title"/>
          </p:nvPr>
        </p:nvSpPr>
        <p:spPr>
          <a:xfrm>
            <a:off x="233775" y="902357"/>
            <a:ext cx="6390529" cy="988147"/>
          </a:xfrm>
          <a:prstGeom prst="rect">
            <a:avLst/>
          </a:prstGeom>
        </p:spPr>
        <p:txBody>
          <a:bodyPr spcFirstLastPara="1" wrap="square" lIns="80669" tIns="80669" rIns="80669" bIns="80669" anchor="ctr" anchorCtr="0">
            <a:noAutofit/>
          </a:bodyPr>
          <a:lstStyle/>
          <a:p>
            <a:r>
              <a:rPr lang="en"/>
              <a:t>API Security</a:t>
            </a:r>
            <a:endParaRPr/>
          </a:p>
        </p:txBody>
      </p:sp>
      <p:sp>
        <p:nvSpPr>
          <p:cNvPr id="184" name="Google Shape;184;p31"/>
          <p:cNvSpPr txBox="1">
            <a:spLocks noGrp="1"/>
          </p:cNvSpPr>
          <p:nvPr>
            <p:ph type="body" idx="1"/>
          </p:nvPr>
        </p:nvSpPr>
        <p:spPr>
          <a:xfrm>
            <a:off x="233775" y="2123055"/>
            <a:ext cx="6390529" cy="5895000"/>
          </a:xfrm>
          <a:prstGeom prst="rect">
            <a:avLst/>
          </a:prstGeom>
        </p:spPr>
        <p:txBody>
          <a:bodyPr spcFirstLastPara="1" wrap="square" lIns="80669" tIns="80669" rIns="80669" bIns="80669" anchor="t" anchorCtr="0">
            <a:noAutofit/>
          </a:bodyPr>
          <a:lstStyle/>
          <a:p>
            <a:pPr marL="0" indent="0">
              <a:spcBef>
                <a:spcPts val="1059"/>
              </a:spcBef>
              <a:buNone/>
            </a:pPr>
            <a:r>
              <a:rPr lang="en" dirty="0"/>
              <a:t>Management has partnered with an external sales vendor and asked for a generic API to be developed that tracks user’s data. Based on the data ingested they will create targeted sales advertisements to the customer base, this means a lot of confidential info about the users will be shared to 3rd party vendors.</a:t>
            </a:r>
            <a:endParaRPr dirty="0"/>
          </a:p>
          <a:p>
            <a:pPr marL="0" indent="0">
              <a:spcBef>
                <a:spcPts val="1059"/>
              </a:spcBef>
              <a:buNone/>
            </a:pPr>
            <a:endParaRPr dirty="0"/>
          </a:p>
          <a:p>
            <a:pPr marL="0" indent="0">
              <a:buNone/>
            </a:pPr>
            <a:r>
              <a:rPr lang="en" dirty="0"/>
              <a:t>You need to </a:t>
            </a:r>
            <a:r>
              <a:rPr lang="en" b="1" dirty="0">
                <a:latin typeface="Open Sans"/>
                <a:ea typeface="Open Sans"/>
                <a:cs typeface="Open Sans"/>
                <a:sym typeface="Open Sans"/>
              </a:rPr>
              <a:t>identify 3 common API vulnerabilities</a:t>
            </a:r>
            <a:r>
              <a:rPr lang="en" dirty="0"/>
              <a:t> and propose effective remediation strategies. Keep in mind this code does not exist; this is the initial stages of development, and you are providing guidance to the engineering team. Feel free to make any assumptions about API features, implementations, and what private data might be shared.</a:t>
            </a:r>
            <a:endParaRPr dirty="0"/>
          </a:p>
          <a:p>
            <a:pPr marL="0" indent="0">
              <a:buClr>
                <a:schemeClr val="dk1"/>
              </a:buClr>
              <a:buSzPts val="1100"/>
              <a:buNone/>
            </a:pPr>
            <a:endParaRPr b="1" i="1" dirty="0">
              <a:latin typeface="Open Sans"/>
              <a:ea typeface="Open Sans"/>
              <a:cs typeface="Open Sans"/>
              <a:sym typeface="Open Sans"/>
            </a:endParaRPr>
          </a:p>
          <a:p>
            <a:pPr>
              <a:buFont typeface="Open Sans"/>
              <a:buChar char="●"/>
            </a:pPr>
            <a:r>
              <a:rPr lang="en" b="1" i="1" dirty="0">
                <a:latin typeface="Open Sans"/>
                <a:ea typeface="Open Sans"/>
                <a:cs typeface="Open Sans"/>
                <a:sym typeface="Open Sans"/>
              </a:rPr>
              <a:t>For each identified common API vulnerability:</a:t>
            </a:r>
            <a:endParaRPr b="1" i="1" dirty="0">
              <a:latin typeface="Open Sans"/>
              <a:ea typeface="Open Sans"/>
              <a:cs typeface="Open Sans"/>
              <a:sym typeface="Open Sans"/>
            </a:endParaRPr>
          </a:p>
          <a:p>
            <a:pPr lvl="1">
              <a:spcBef>
                <a:spcPts val="0"/>
              </a:spcBef>
              <a:buFont typeface="Open Sans"/>
              <a:buChar char="○"/>
            </a:pPr>
            <a:r>
              <a:rPr lang="en" b="1" i="1" dirty="0">
                <a:latin typeface="Open Sans"/>
                <a:ea typeface="Open Sans"/>
                <a:cs typeface="Open Sans"/>
                <a:sym typeface="Open Sans"/>
              </a:rPr>
              <a:t>Describe the vulnerability</a:t>
            </a:r>
            <a:endParaRPr b="1" i="1" dirty="0">
              <a:latin typeface="Open Sans"/>
              <a:ea typeface="Open Sans"/>
              <a:cs typeface="Open Sans"/>
              <a:sym typeface="Open Sans"/>
            </a:endParaRPr>
          </a:p>
          <a:p>
            <a:pPr lvl="1">
              <a:spcBef>
                <a:spcPts val="0"/>
              </a:spcBef>
              <a:buFont typeface="Open Sans"/>
              <a:buChar char="○"/>
            </a:pPr>
            <a:r>
              <a:rPr lang="en" b="1" i="1" dirty="0">
                <a:latin typeface="Open Sans"/>
                <a:ea typeface="Open Sans"/>
                <a:cs typeface="Open Sans"/>
                <a:sym typeface="Open Sans"/>
              </a:rPr>
              <a:t>Explain the risk</a:t>
            </a:r>
            <a:endParaRPr b="1" i="1" dirty="0">
              <a:latin typeface="Open Sans"/>
              <a:ea typeface="Open Sans"/>
              <a:cs typeface="Open Sans"/>
              <a:sym typeface="Open Sans"/>
            </a:endParaRPr>
          </a:p>
          <a:p>
            <a:pPr lvl="1">
              <a:spcBef>
                <a:spcPts val="0"/>
              </a:spcBef>
              <a:buFont typeface="Open Sans"/>
              <a:buChar char="○"/>
            </a:pPr>
            <a:r>
              <a:rPr lang="en" b="1" i="1" dirty="0">
                <a:latin typeface="Open Sans"/>
                <a:ea typeface="Open Sans"/>
                <a:cs typeface="Open Sans"/>
                <a:sym typeface="Open Sans"/>
              </a:rPr>
              <a:t>Provide remediation strategy</a:t>
            </a:r>
            <a:endParaRPr b="1" i="1" dirty="0">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1.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[What specific weakness does this vulnerability represent? How does it work?]</a:t>
                      </a:r>
                      <a:endParaRPr sz="1600" i="1" dirty="0">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attackers use this flaw, and what harm could it do?]</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0652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2.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[What specific weakness does this vulnerability represent? How does it work?]</a:t>
                      </a:r>
                      <a:endParaRPr sz="1600" i="1">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[How can attackers use this flaw, and what harm could it do?]</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67641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7CF3A-C25F-47EF-85CA-9407CEE6C6A6}"/>
              </a:ext>
            </a:extLst>
          </p:cNvPr>
          <p:cNvSpPr>
            <a:spLocks noGrp="1"/>
          </p:cNvSpPr>
          <p:nvPr>
            <p:ph type="title"/>
          </p:nvPr>
        </p:nvSpPr>
        <p:spPr/>
        <p:txBody>
          <a:bodyPr/>
          <a:lstStyle/>
          <a:p>
            <a:r>
              <a:rPr kumimoji="0" lang="en" sz="2824" b="0" i="0" u="none" strike="noStrike" kern="0" cap="none" spc="0" normalizeH="0" baseline="0" noProof="0" dirty="0">
                <a:ln>
                  <a:noFill/>
                </a:ln>
                <a:solidFill>
                  <a:srgbClr val="02B3E4"/>
                </a:solidFill>
                <a:effectLst/>
                <a:uLnTx/>
                <a:uFillTx/>
                <a:latin typeface="Open Sans Light"/>
                <a:ea typeface="Open Sans Light"/>
                <a:cs typeface="Open Sans Light"/>
                <a:sym typeface="Open Sans Light"/>
              </a:rPr>
              <a:t>Vulnerabilities and remediation</a:t>
            </a:r>
            <a:endParaRPr lang="en-IN" dirty="0"/>
          </a:p>
        </p:txBody>
      </p:sp>
      <p:graphicFrame>
        <p:nvGraphicFramePr>
          <p:cNvPr id="4" name="Google Shape;121;p21">
            <a:extLst>
              <a:ext uri="{FF2B5EF4-FFF2-40B4-BE49-F238E27FC236}">
                <a16:creationId xmlns:a16="http://schemas.microsoft.com/office/drawing/2014/main" id="{56720630-D3FF-4AC5-BF9C-0E9EB4E9D195}"/>
              </a:ext>
            </a:extLst>
          </p:cNvPr>
          <p:cNvGraphicFramePr/>
          <p:nvPr/>
        </p:nvGraphicFramePr>
        <p:xfrm>
          <a:off x="233736" y="2123074"/>
          <a:ext cx="6390529" cy="5223270"/>
        </p:xfrm>
        <a:graphic>
          <a:graphicData uri="http://schemas.openxmlformats.org/drawingml/2006/table">
            <a:tbl>
              <a:tblPr>
                <a:noFill/>
              </a:tblPr>
              <a:tblGrid>
                <a:gridCol w="6390529">
                  <a:extLst>
                    <a:ext uri="{9D8B030D-6E8A-4147-A177-3AD203B41FA5}">
                      <a16:colId xmlns:a16="http://schemas.microsoft.com/office/drawing/2014/main" val="20000"/>
                    </a:ext>
                  </a:extLst>
                </a:gridCol>
              </a:tblGrid>
              <a:tr h="466412">
                <a:tc>
                  <a:txBody>
                    <a:bodyPr/>
                    <a:lstStyle/>
                    <a:p>
                      <a:pPr marL="0" lvl="0" indent="0" algn="ctr" rtl="0">
                        <a:lnSpc>
                          <a:spcPct val="115000"/>
                        </a:lnSpc>
                        <a:spcBef>
                          <a:spcPts val="0"/>
                        </a:spcBef>
                        <a:spcAft>
                          <a:spcPts val="0"/>
                        </a:spcAft>
                        <a:buNone/>
                      </a:pPr>
                      <a:r>
                        <a:rPr lang="en" sz="1600" dirty="0">
                          <a:solidFill>
                            <a:srgbClr val="525C65"/>
                          </a:solidFill>
                          <a:latin typeface="Open Sans"/>
                          <a:ea typeface="Open Sans"/>
                          <a:cs typeface="Open Sans"/>
                          <a:sym typeface="Open Sans"/>
                        </a:rPr>
                        <a:t>3. [Name of the vulnerability]</a:t>
                      </a:r>
                      <a:endParaRPr sz="1600" dirty="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Description</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158662">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[What specific weakness does this vulnerability represent? How does it work?]</a:t>
                      </a:r>
                      <a:endParaRPr sz="1600" i="1">
                        <a:solidFill>
                          <a:srgbClr val="525C65"/>
                        </a:solidFill>
                        <a:latin typeface="Open Sans Light"/>
                        <a:ea typeface="Open Sans Light"/>
                        <a:cs typeface="Open Sans Light"/>
                        <a:sym typeface="Open Sans Light"/>
                      </a:endParaRPr>
                    </a:p>
                    <a:p>
                      <a:pPr marL="0" lvl="0" indent="0" algn="l" rtl="0">
                        <a:spcBef>
                          <a:spcPts val="0"/>
                        </a:spcBef>
                        <a:spcAft>
                          <a:spcPts val="0"/>
                        </a:spcAft>
                        <a:buNone/>
                      </a:pP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Risk</a:t>
                      </a:r>
                      <a:endParaRPr sz="1600">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1463824">
                <a:tc>
                  <a:txBody>
                    <a:bodyPr/>
                    <a:lstStyle/>
                    <a:p>
                      <a:pPr marL="0" lvl="0" indent="0" algn="l" rtl="0">
                        <a:spcBef>
                          <a:spcPts val="0"/>
                        </a:spcBef>
                        <a:spcAft>
                          <a:spcPts val="0"/>
                        </a:spcAft>
                        <a:buNone/>
                      </a:pPr>
                      <a:r>
                        <a:rPr lang="en" sz="1600" i="1">
                          <a:solidFill>
                            <a:srgbClr val="525C65"/>
                          </a:solidFill>
                          <a:latin typeface="Open Sans Light"/>
                          <a:ea typeface="Open Sans Light"/>
                          <a:cs typeface="Open Sans Light"/>
                          <a:sym typeface="Open Sans Light"/>
                        </a:rPr>
                        <a:t>[How can attackers use this flaw, and what harm could it do?]</a:t>
                      </a:r>
                      <a:endParaRPr sz="1600" i="1">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03385">
                <a:tc>
                  <a:txBody>
                    <a:bodyPr/>
                    <a:lstStyle/>
                    <a:p>
                      <a:pPr marL="0" lvl="0" indent="0" algn="l" rtl="0">
                        <a:spcBef>
                          <a:spcPts val="0"/>
                        </a:spcBef>
                        <a:spcAft>
                          <a:spcPts val="0"/>
                        </a:spcAft>
                        <a:buNone/>
                      </a:pPr>
                      <a:r>
                        <a:rPr lang="en" sz="1600">
                          <a:solidFill>
                            <a:srgbClr val="525C65"/>
                          </a:solidFill>
                          <a:latin typeface="Open Sans"/>
                          <a:ea typeface="Open Sans"/>
                          <a:cs typeface="Open Sans"/>
                          <a:sym typeface="Open Sans"/>
                        </a:rPr>
                        <a:t>Remediation</a:t>
                      </a:r>
                      <a:endParaRPr sz="1600" i="1">
                        <a:solidFill>
                          <a:srgbClr val="525C65"/>
                        </a:solidFill>
                        <a:latin typeface="Open Sans"/>
                        <a:ea typeface="Open Sans"/>
                        <a:cs typeface="Open Sans"/>
                        <a:sym typeface="Open Sans"/>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918838">
                <a:tc>
                  <a:txBody>
                    <a:bodyPr/>
                    <a:lstStyle/>
                    <a:p>
                      <a:pPr marL="0" lvl="0" indent="0" algn="l" rtl="0">
                        <a:spcBef>
                          <a:spcPts val="0"/>
                        </a:spcBef>
                        <a:spcAft>
                          <a:spcPts val="0"/>
                        </a:spcAft>
                        <a:buNone/>
                      </a:pPr>
                      <a:r>
                        <a:rPr lang="en" sz="1600" i="1" dirty="0">
                          <a:solidFill>
                            <a:srgbClr val="525C65"/>
                          </a:solidFill>
                          <a:latin typeface="Open Sans Light"/>
                          <a:ea typeface="Open Sans Light"/>
                          <a:cs typeface="Open Sans Light"/>
                          <a:sym typeface="Open Sans Light"/>
                        </a:rPr>
                        <a:t>[How can you fix or reduce the risk from this flaw?]</a:t>
                      </a:r>
                      <a:endParaRPr sz="1600" i="1" dirty="0">
                        <a:solidFill>
                          <a:srgbClr val="525C65"/>
                        </a:solidFill>
                        <a:latin typeface="Open Sans Light"/>
                        <a:ea typeface="Open Sans Light"/>
                        <a:cs typeface="Open Sans Light"/>
                        <a:sym typeface="Open Sans Light"/>
                      </a:endParaRPr>
                    </a:p>
                  </a:txBody>
                  <a:tcPr marL="80669" marR="80669" marT="80669" marB="80669">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931984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2114</TotalTime>
  <Words>1770</Words>
  <Application>Microsoft Office PowerPoint</Application>
  <PresentationFormat>On-screen Show (4:3)</PresentationFormat>
  <Paragraphs>174</Paragraphs>
  <Slides>28</Slides>
  <Notes>9</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28</vt:i4>
      </vt:variant>
    </vt:vector>
  </HeadingPairs>
  <TitlesOfParts>
    <vt:vector size="39" baseType="lpstr">
      <vt:lpstr>Arial</vt:lpstr>
      <vt:lpstr>Calibri</vt:lpstr>
      <vt:lpstr>Corbel</vt:lpstr>
      <vt:lpstr>Helvetica Neue</vt:lpstr>
      <vt:lpstr>Open Sans</vt:lpstr>
      <vt:lpstr>Open Sans Light</vt:lpstr>
      <vt:lpstr>Open Sans Medium</vt:lpstr>
      <vt:lpstr>Wingdings</vt:lpstr>
      <vt:lpstr>Banded</vt:lpstr>
      <vt:lpstr>Simple Light</vt:lpstr>
      <vt:lpstr>1_Simple Light</vt:lpstr>
      <vt:lpstr>PowerPoint Presentation</vt:lpstr>
      <vt:lpstr>How to Use this Template</vt:lpstr>
      <vt:lpstr>PowerPoint Presentation</vt:lpstr>
      <vt:lpstr>Overview</vt:lpstr>
      <vt:lpstr>PowerPoint Presentation</vt:lpstr>
      <vt:lpstr>Transitioning to Secure SDLC</vt:lpstr>
      <vt:lpstr>Transitioning to Secure SDLC</vt:lpstr>
      <vt:lpstr>Transitioning to Secure SDLC</vt:lpstr>
      <vt:lpstr>Transitioning to Secure SDLC</vt:lpstr>
      <vt:lpstr>Transitioning to Secure SDLC</vt:lpstr>
      <vt:lpstr>Advocating for Secure SDLC</vt:lpstr>
      <vt:lpstr>Advocating for Secure SDLC</vt:lpstr>
      <vt:lpstr>PowerPoint Presentation</vt:lpstr>
      <vt:lpstr>Vulnerabilities and remediation</vt:lpstr>
      <vt:lpstr>Vulnerabilities and remediation</vt:lpstr>
      <vt:lpstr>Vulnerabilities and remediation</vt:lpstr>
      <vt:lpstr>Vulnerabilities and remediation</vt:lpstr>
      <vt:lpstr>Create a threat Matrix</vt:lpstr>
      <vt:lpstr>Threat Matrix</vt:lpstr>
      <vt:lpstr>PowerPoint Presentation</vt:lpstr>
      <vt:lpstr>Container Security</vt:lpstr>
      <vt:lpstr>Trivy scan screenshot</vt:lpstr>
      <vt:lpstr>Report to Fix Container Issues</vt:lpstr>
      <vt:lpstr>PowerPoint Presentation</vt:lpstr>
      <vt:lpstr>API Security</vt:lpstr>
      <vt:lpstr>Vulnerabilities and remediation</vt:lpstr>
      <vt:lpstr>Vulnerabilities and remediation</vt:lpstr>
      <vt:lpstr>Vulnerabilities and remediation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Arnav Gupta</dc:creator>
  <cp:lastModifiedBy>Arnav Gupta</cp:lastModifiedBy>
  <cp:revision>10</cp:revision>
  <dcterms:created xsi:type="dcterms:W3CDTF">2024-12-31T07:43:09Z</dcterms:created>
  <dcterms:modified xsi:type="dcterms:W3CDTF">2025-01-20T14:15:46Z</dcterms:modified>
</cp:coreProperties>
</file>